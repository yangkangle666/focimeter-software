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1" d="100"/>
          <a:sy n="51" d="100"/>
        </p:scale>
        <p:origin x="705" y="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6EAB98-989C-0B55-852C-BE9166C5E6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0D639AC-973E-A6B0-5F11-9415000C46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A067190-9B99-926B-C1BB-0F2835FE6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46352-CD39-4D63-8AA6-7B40E1D3B3BB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11406D-1006-1CDD-8416-F8AEF6545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21E75A-0093-3785-80B9-23CA38D67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AD0BE-1D49-4FFA-9B6C-15B893000D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52163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5AC692-8EC6-07BA-E661-975934A1B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36E9B0A-824C-5268-AD86-1774FF05F9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FA1D0FC-8565-DFB5-66AD-11849B58D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46352-CD39-4D63-8AA6-7B40E1D3B3BB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2D0C1A-B153-5E14-61D3-1F5CF27E2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647EE7-98A5-D023-DCD5-1B95E3520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AD0BE-1D49-4FFA-9B6C-15B893000D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685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32B62E-DB17-0EBE-0B6A-151703D52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DC0CB72-FDFF-103B-E200-E2B47E6E21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D13CC23-BDFB-67D7-025C-E39F0BD59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46352-CD39-4D63-8AA6-7B40E1D3B3BB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12094D9-F6D5-AB52-CDBF-A414AF45A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05C5ED5-DEED-C731-F164-E3D45A978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AD0BE-1D49-4FFA-9B6C-15B893000D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19623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8AF9CD-5383-C3DA-1BC9-67FBEF3D0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136CF8-79F8-CB23-097E-24BD376789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8D578A7-8D6C-5B31-AFA1-AD269E4A46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8DD42FD-6826-B7DD-E6D1-37CF8BAA9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46352-CD39-4D63-8AA6-7B40E1D3B3BB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91B2AEC-E99D-0AEF-384A-E54FC76C7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1B10429-BF19-CCFE-E1D4-D1C4F870B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AD0BE-1D49-4FFA-9B6C-15B893000D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503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946BAE-C591-2DAE-42F7-1B82D7D51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BDF9C76-4F91-F66C-1B2C-75CE2E43F2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3D147A7-6CED-90CE-F9EF-0C0353A5E4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7DFBC6B-F402-D2F8-8908-E0A253CB9A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D616A7F-CF91-B4B1-8568-A9902A27E2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812B31F-541D-6EC1-C34F-91CC44684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46352-CD39-4D63-8AA6-7B40E1D3B3BB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9F326CA-8256-13D2-4FED-388F63893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BC9C60B-968C-FBF3-817C-1FCBD1850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AD0BE-1D49-4FFA-9B6C-15B893000D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2534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4E8E86-667C-ECB8-5782-B100558A6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ECDBDB3-C024-D283-DC98-D6B344DAE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46352-CD39-4D63-8AA6-7B40E1D3B3BB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9552D50-F380-AB55-55E2-9B677C514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BC5D20B-EB47-E67A-4F78-754651034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AD0BE-1D49-4FFA-9B6C-15B893000D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7909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6B84508-3C1C-F5D7-8CC9-E75DA2938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46352-CD39-4D63-8AA6-7B40E1D3B3BB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E0D76CC-37B9-3EDF-7223-26EF23CC1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0F80C54-B54F-8ECB-FB6C-6C6362919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AD0BE-1D49-4FFA-9B6C-15B893000D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6252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D8E643-A9F6-BF03-DED8-CBBCA1A8C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D580D0-3E7A-3DF0-DF0F-49D0ACB5A9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CC68742-499E-C9BD-4ED1-42FE55FFC2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6D913A9-68A6-1667-B308-A5884622B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46352-CD39-4D63-8AA6-7B40E1D3B3BB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4814121-9A76-2EAC-B590-F11102B05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A5121B9-62B5-70B6-18D2-D089E2124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AD0BE-1D49-4FFA-9B6C-15B893000D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6215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1D10D1-CF5A-FBC5-A6D0-9CCEA0A51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FF52C2F-AC3D-D5E2-D7C4-F814C6BF09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1B0263E-6F72-B887-04AF-C71434B62B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CCEE011-014B-BEFE-2545-98B3BF95A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46352-CD39-4D63-8AA6-7B40E1D3B3BB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9BD7029-EC5C-4BFC-E126-8DBFA1142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402A7C2-69E7-CC55-F84C-803CED387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AD0BE-1D49-4FFA-9B6C-15B893000D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9951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572429-0FE8-95D6-6184-709238F0E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D082CF2-EB44-BDED-D1A3-AEC4F034E1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0F048E9-9CC1-D47F-43D7-C18177DEE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46352-CD39-4D63-8AA6-7B40E1D3B3BB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A1FCF7E-D094-C4A2-1198-974FB03A1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EE4068-C326-A2E1-97FB-54D9889B5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AD0BE-1D49-4FFA-9B6C-15B893000D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24494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051AC3B-D320-FAEC-097D-9C512F8E39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2851D81-A717-2C52-45A0-BA93810F30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1FE9363-6123-DB10-D803-CBB7A9F0F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46352-CD39-4D63-8AA6-7B40E1D3B3BB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1920EC4-C936-D1E0-9DFE-BBE6295EA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CA6694-F7F1-114C-576B-58CDE56E1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AD0BE-1D49-4FFA-9B6C-15B893000D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1598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948E410-5811-86F0-A8C5-158000E62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D8833EB-C236-4197-D424-A5DCE9F8F8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C1AB677-4E9A-4D26-330D-4A1433E834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F46352-CD39-4D63-8AA6-7B40E1D3B3BB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59C420-D00B-D007-1365-B174FB1091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BE7A176-4087-E5D6-B04A-EED86F2F84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5AD0BE-1D49-4FFA-9B6C-15B893000D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06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6889ACA-1DFA-C31D-3579-97BFA483AA6E}"/>
              </a:ext>
            </a:extLst>
          </p:cNvPr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22A6A1"/>
          </a:solidFill>
          <a:ln w="12700">
            <a:solidFill>
              <a:srgbClr val="22A6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39B9BBE-7E21-AA8B-D1B1-4C3060F39FB5}"/>
              </a:ext>
            </a:extLst>
          </p:cNvPr>
          <p:cNvSpPr txBox="1"/>
          <p:nvPr/>
        </p:nvSpPr>
        <p:spPr>
          <a:xfrm>
            <a:off x="838200" y="1524000"/>
            <a:ext cx="8763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3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自动焦度计项目汇报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767975A-197C-8B8A-240F-27A2989CDE5F}"/>
              </a:ext>
            </a:extLst>
          </p:cNvPr>
          <p:cNvSpPr txBox="1"/>
          <p:nvPr/>
        </p:nvSpPr>
        <p:spPr>
          <a:xfrm>
            <a:off x="889000" y="2603500"/>
            <a:ext cx="825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2100">
                <a:solidFill>
                  <a:srgbClr val="BFE1D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从光学原理、光斑位移到可执行程序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B74406D7-48D8-5E08-21CA-D35A697631A6}"/>
              </a:ext>
            </a:extLst>
          </p:cNvPr>
          <p:cNvCxnSpPr/>
          <p:nvPr/>
        </p:nvCxnSpPr>
        <p:spPr>
          <a:xfrm>
            <a:off x="889000" y="3492500"/>
            <a:ext cx="3810000" cy="0"/>
          </a:xfrm>
          <a:prstGeom prst="line">
            <a:avLst/>
          </a:prstGeom>
          <a:ln w="50800">
            <a:solidFill>
              <a:srgbClr val="E07A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17309639-EB80-C12B-5638-3F5FEC7C9F21}"/>
              </a:ext>
            </a:extLst>
          </p:cNvPr>
          <p:cNvSpPr txBox="1"/>
          <p:nvPr/>
        </p:nvSpPr>
        <p:spPr>
          <a:xfrm>
            <a:off x="889000" y="3810000"/>
            <a:ext cx="723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汇报目标：建立统一的项目理解，明确当前原型与后续程序化路线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7B95973-E528-2A0B-F45A-089A1D0A5809}"/>
              </a:ext>
            </a:extLst>
          </p:cNvPr>
          <p:cNvSpPr txBox="1"/>
          <p:nvPr/>
        </p:nvSpPr>
        <p:spPr>
          <a:xfrm>
            <a:off x="889000" y="7747000"/>
            <a:ext cx="317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BFCDD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项目负责人汇报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DBAA2A64-6450-8B6E-B4CF-B0242D06AB9E}"/>
              </a:ext>
            </a:extLst>
          </p:cNvPr>
          <p:cNvSpPr/>
          <p:nvPr/>
        </p:nvSpPr>
        <p:spPr>
          <a:xfrm>
            <a:off x="8636000" y="3098800"/>
            <a:ext cx="558800" cy="558800"/>
          </a:xfrm>
          <a:prstGeom prst="ellipse">
            <a:avLst/>
          </a:prstGeom>
          <a:solidFill>
            <a:srgbClr val="E07A3F"/>
          </a:solidFill>
          <a:ln w="12700">
            <a:solidFill>
              <a:srgbClr val="E07A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C560A2EA-58C7-3C3C-6A40-3CD2BFAD1BAB}"/>
              </a:ext>
            </a:extLst>
          </p:cNvPr>
          <p:cNvCxnSpPr/>
          <p:nvPr/>
        </p:nvCxnSpPr>
        <p:spPr>
          <a:xfrm>
            <a:off x="9194800" y="3378200"/>
            <a:ext cx="1092200" cy="0"/>
          </a:xfrm>
          <a:prstGeom prst="line">
            <a:avLst/>
          </a:prstGeom>
          <a:ln w="25400">
            <a:solidFill>
              <a:srgbClr val="80C7C4"/>
            </a:solidFill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1C95D8FB-2E00-26F5-C654-DEE686712A78}"/>
              </a:ext>
            </a:extLst>
          </p:cNvPr>
          <p:cNvSpPr/>
          <p:nvPr/>
        </p:nvSpPr>
        <p:spPr>
          <a:xfrm>
            <a:off x="10287000" y="2717800"/>
            <a:ext cx="177800" cy="1320800"/>
          </a:xfrm>
          <a:prstGeom prst="rect">
            <a:avLst/>
          </a:prstGeom>
          <a:solidFill>
            <a:srgbClr val="E8F1FA"/>
          </a:solidFill>
          <a:ln w="12700">
            <a:solidFill>
              <a:srgbClr val="E8F1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7B69DA60-99F5-F510-5302-C66A6E4D84C9}"/>
              </a:ext>
            </a:extLst>
          </p:cNvPr>
          <p:cNvCxnSpPr/>
          <p:nvPr/>
        </p:nvCxnSpPr>
        <p:spPr>
          <a:xfrm flipV="1">
            <a:off x="10464800" y="2667000"/>
            <a:ext cx="838200" cy="406400"/>
          </a:xfrm>
          <a:prstGeom prst="line">
            <a:avLst/>
          </a:prstGeom>
          <a:ln w="19050">
            <a:solidFill>
              <a:srgbClr val="80C7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741315C3-A116-3F4F-74FC-BDEEB66D7D35}"/>
              </a:ext>
            </a:extLst>
          </p:cNvPr>
          <p:cNvCxnSpPr/>
          <p:nvPr/>
        </p:nvCxnSpPr>
        <p:spPr>
          <a:xfrm>
            <a:off x="10464800" y="3378200"/>
            <a:ext cx="838200" cy="0"/>
          </a:xfrm>
          <a:prstGeom prst="line">
            <a:avLst/>
          </a:prstGeom>
          <a:ln w="19050">
            <a:solidFill>
              <a:srgbClr val="80C7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0AA5DBB5-3B60-03D5-D0D5-32958CE7D659}"/>
              </a:ext>
            </a:extLst>
          </p:cNvPr>
          <p:cNvCxnSpPr/>
          <p:nvPr/>
        </p:nvCxnSpPr>
        <p:spPr>
          <a:xfrm>
            <a:off x="10464800" y="3683000"/>
            <a:ext cx="838200" cy="406400"/>
          </a:xfrm>
          <a:prstGeom prst="line">
            <a:avLst/>
          </a:prstGeom>
          <a:ln w="19050">
            <a:solidFill>
              <a:srgbClr val="80C7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EE74A9E4-CC5E-C228-F70F-C6FB12093253}"/>
              </a:ext>
            </a:extLst>
          </p:cNvPr>
          <p:cNvSpPr/>
          <p:nvPr/>
        </p:nvSpPr>
        <p:spPr>
          <a:xfrm>
            <a:off x="11303000" y="2413000"/>
            <a:ext cx="152400" cy="193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6FDD12C-EF2E-9453-D97C-FF98D0E5C17F}"/>
              </a:ext>
            </a:extLst>
          </p:cNvPr>
          <p:cNvSpPr txBox="1"/>
          <p:nvPr/>
        </p:nvSpPr>
        <p:spPr>
          <a:xfrm>
            <a:off x="8585200" y="3759200"/>
            <a:ext cx="660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CN" altLang="en-US" sz="1100">
                <a:solidFill>
                  <a:srgbClr val="BFE1D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光源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7BCE46B-5127-5B05-98B1-9A9E39A049A2}"/>
              </a:ext>
            </a:extLst>
          </p:cNvPr>
          <p:cNvSpPr txBox="1"/>
          <p:nvPr/>
        </p:nvSpPr>
        <p:spPr>
          <a:xfrm>
            <a:off x="10033000" y="4267200"/>
            <a:ext cx="711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CN" altLang="en-US" sz="1100">
                <a:solidFill>
                  <a:srgbClr val="BFE1D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镜片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57E221A-6F97-151D-D5D6-3696FC9EBF2F}"/>
              </a:ext>
            </a:extLst>
          </p:cNvPr>
          <p:cNvSpPr txBox="1"/>
          <p:nvPr/>
        </p:nvSpPr>
        <p:spPr>
          <a:xfrm>
            <a:off x="10896600" y="4470400"/>
            <a:ext cx="965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CN" altLang="en-US" sz="1100">
                <a:solidFill>
                  <a:srgbClr val="BFE1D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光斑屏</a:t>
            </a:r>
          </a:p>
        </p:txBody>
      </p:sp>
    </p:spTree>
    <p:extLst>
      <p:ext uri="{BB962C8B-B14F-4D97-AF65-F5344CB8AC3E}">
        <p14:creationId xmlns:p14="http://schemas.microsoft.com/office/powerpoint/2010/main" val="40408039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7E3A4D0-1B5E-72CF-EFAA-BD802022255C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22A6A1"/>
          </a:solidFill>
          <a:ln w="12700">
            <a:solidFill>
              <a:srgbClr val="22A6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BA5EF34-84CF-3130-F323-CF930D354830}"/>
              </a:ext>
            </a:extLst>
          </p:cNvPr>
          <p:cNvSpPr txBox="1"/>
          <p:nvPr/>
        </p:nvSpPr>
        <p:spPr>
          <a:xfrm>
            <a:off x="685800" y="355600"/>
            <a:ext cx="914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2500" b="1">
                <a:solidFill>
                  <a:srgbClr val="1732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我们要解决的是“如何可靠地测出镜片屈光力”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98A62B3-8ADA-AF3C-9355-DCBA0018FBCA}"/>
              </a:ext>
            </a:extLst>
          </p:cNvPr>
          <p:cNvSpPr txBox="1"/>
          <p:nvPr/>
        </p:nvSpPr>
        <p:spPr>
          <a:xfrm>
            <a:off x="9652000" y="406400"/>
            <a:ext cx="1841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zh-CN" altLang="en-US" sz="1000">
                <a:solidFill>
                  <a:srgbClr val="5E6F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焦度计项目  </a:t>
            </a:r>
            <a:r>
              <a:rPr lang="en-US" altLang="zh-CN" sz="1000">
                <a:solidFill>
                  <a:srgbClr val="5E6F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|  02</a:t>
            </a:r>
            <a:endParaRPr lang="zh-CN" altLang="en-US" sz="1000">
              <a:solidFill>
                <a:srgbClr val="5E6F7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452A42E2-A2D5-80D4-ADC5-3048BA94D9D1}"/>
              </a:ext>
            </a:extLst>
          </p:cNvPr>
          <p:cNvCxnSpPr/>
          <p:nvPr/>
        </p:nvCxnSpPr>
        <p:spPr>
          <a:xfrm>
            <a:off x="685800" y="965200"/>
            <a:ext cx="10820400" cy="0"/>
          </a:xfrm>
          <a:prstGeom prst="line">
            <a:avLst/>
          </a:prstGeom>
          <a:ln w="12700">
            <a:solidFill>
              <a:srgbClr val="D2DC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22A01560-6859-2FF3-2D5C-6EF418024A1C}"/>
              </a:ext>
            </a:extLst>
          </p:cNvPr>
          <p:cNvSpPr txBox="1"/>
          <p:nvPr/>
        </p:nvSpPr>
        <p:spPr>
          <a:xfrm>
            <a:off x="685800" y="13335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2000" b="1">
                <a:solidFill>
                  <a:srgbClr val="1732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镜片的度数不是直接写在图像里，而是藏在光线偏折后的位移中。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DBE9ADAE-1908-F3F3-E379-7041F407B90B}"/>
              </a:ext>
            </a:extLst>
          </p:cNvPr>
          <p:cNvSpPr/>
          <p:nvPr/>
        </p:nvSpPr>
        <p:spPr>
          <a:xfrm>
            <a:off x="685800" y="2159000"/>
            <a:ext cx="3429000" cy="4064000"/>
          </a:xfrm>
          <a:prstGeom prst="roundRect">
            <a:avLst/>
          </a:prstGeom>
          <a:solidFill>
            <a:srgbClr val="E8F1FA"/>
          </a:solidFill>
          <a:ln w="12700">
            <a:solidFill>
              <a:srgbClr val="E8F1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1FCBDEA4-EE06-E897-89DC-9D002807745A}"/>
              </a:ext>
            </a:extLst>
          </p:cNvPr>
          <p:cNvSpPr/>
          <p:nvPr/>
        </p:nvSpPr>
        <p:spPr>
          <a:xfrm>
            <a:off x="990600" y="2514600"/>
            <a:ext cx="1320800" cy="33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B64868D-730D-E207-0595-A5A2FE6ADCC0}"/>
              </a:ext>
            </a:extLst>
          </p:cNvPr>
          <p:cNvSpPr txBox="1"/>
          <p:nvPr/>
        </p:nvSpPr>
        <p:spPr>
          <a:xfrm>
            <a:off x="1092200" y="2565400"/>
            <a:ext cx="1117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CN" altLang="en-US" sz="1100" b="1">
                <a:solidFill>
                  <a:srgbClr val="3D7E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现有问题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AD8A793-A0FC-1B57-6D65-3DE488542846}"/>
              </a:ext>
            </a:extLst>
          </p:cNvPr>
          <p:cNvSpPr txBox="1"/>
          <p:nvPr/>
        </p:nvSpPr>
        <p:spPr>
          <a:xfrm>
            <a:off x="990600" y="3175000"/>
            <a:ext cx="2603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>
                <a:solidFill>
                  <a:srgbClr val="2430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人工调焦</a:t>
            </a:r>
          </a:p>
          <a:p>
            <a:endParaRPr lang="zh-CN" altLang="en-US">
              <a:solidFill>
                <a:srgbClr val="24303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zh-CN" altLang="en-US">
                <a:solidFill>
                  <a:srgbClr val="2430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依赖操作经验</a:t>
            </a:r>
          </a:p>
          <a:p>
            <a:r>
              <a:rPr lang="zh-CN" altLang="en-US">
                <a:solidFill>
                  <a:srgbClr val="2430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测量效率有限</a:t>
            </a:r>
          </a:p>
          <a:p>
            <a:r>
              <a:rPr lang="zh-CN" altLang="en-US">
                <a:solidFill>
                  <a:srgbClr val="2430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难以连续记录</a:t>
            </a:r>
          </a:p>
          <a:p>
            <a:r>
              <a:rPr lang="zh-CN" altLang="en-US">
                <a:solidFill>
                  <a:srgbClr val="2430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难以形成可追溯数据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D79AAFA3-9D7A-FFEC-A6A6-5D81AF561ABA}"/>
              </a:ext>
            </a:extLst>
          </p:cNvPr>
          <p:cNvSpPr/>
          <p:nvPr/>
        </p:nvSpPr>
        <p:spPr>
          <a:xfrm>
            <a:off x="4394200" y="2159000"/>
            <a:ext cx="3429000" cy="4064000"/>
          </a:xfrm>
          <a:prstGeom prst="roundRect">
            <a:avLst/>
          </a:prstGeom>
          <a:solidFill>
            <a:srgbClr val="E2F5F3"/>
          </a:solidFill>
          <a:ln w="12700">
            <a:solidFill>
              <a:srgbClr val="E2F5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5A14A5B9-CD3E-4D67-D1E3-CBF49C30615E}"/>
              </a:ext>
            </a:extLst>
          </p:cNvPr>
          <p:cNvSpPr/>
          <p:nvPr/>
        </p:nvSpPr>
        <p:spPr>
          <a:xfrm>
            <a:off x="4699000" y="2514600"/>
            <a:ext cx="1320800" cy="33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507E609-6818-24E1-DA7E-74FB2D4C52C3}"/>
              </a:ext>
            </a:extLst>
          </p:cNvPr>
          <p:cNvSpPr txBox="1"/>
          <p:nvPr/>
        </p:nvSpPr>
        <p:spPr>
          <a:xfrm>
            <a:off x="4800600" y="2565400"/>
            <a:ext cx="1117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CN" altLang="en-US" sz="1100" b="1">
                <a:solidFill>
                  <a:srgbClr val="22A6A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项目思路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6D5A80E-328D-7C62-F522-E2C34472824A}"/>
              </a:ext>
            </a:extLst>
          </p:cNvPr>
          <p:cNvSpPr txBox="1"/>
          <p:nvPr/>
        </p:nvSpPr>
        <p:spPr>
          <a:xfrm>
            <a:off x="4699000" y="3175000"/>
            <a:ext cx="2603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>
                <a:solidFill>
                  <a:srgbClr val="2430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把镜片折射造成的</a:t>
            </a:r>
          </a:p>
          <a:p>
            <a:r>
              <a:rPr lang="zh-CN" altLang="en-US">
                <a:solidFill>
                  <a:srgbClr val="2430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光斑位移拍下来</a:t>
            </a:r>
          </a:p>
          <a:p>
            <a:endParaRPr lang="zh-CN" altLang="en-US">
              <a:solidFill>
                <a:srgbClr val="24303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zh-CN" altLang="en-US">
                <a:solidFill>
                  <a:srgbClr val="2430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再用图像处理提取</a:t>
            </a:r>
          </a:p>
          <a:p>
            <a:r>
              <a:rPr lang="zh-CN" altLang="en-US">
                <a:solidFill>
                  <a:srgbClr val="2430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光斑坐标并计算屈光力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BA11A5C2-2653-0E94-BED0-6001F50DF8E9}"/>
              </a:ext>
            </a:extLst>
          </p:cNvPr>
          <p:cNvSpPr/>
          <p:nvPr/>
        </p:nvSpPr>
        <p:spPr>
          <a:xfrm>
            <a:off x="8102600" y="2159000"/>
            <a:ext cx="3429000" cy="4064000"/>
          </a:xfrm>
          <a:prstGeom prst="roundRect">
            <a:avLst/>
          </a:prstGeom>
          <a:solidFill>
            <a:srgbClr val="FCEEE5"/>
          </a:solidFill>
          <a:ln w="12700">
            <a:solidFill>
              <a:srgbClr val="FCEE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E856FF59-8C23-9CFE-49E1-58B8A6E9B0DC}"/>
              </a:ext>
            </a:extLst>
          </p:cNvPr>
          <p:cNvSpPr/>
          <p:nvPr/>
        </p:nvSpPr>
        <p:spPr>
          <a:xfrm>
            <a:off x="8407400" y="2514600"/>
            <a:ext cx="1422400" cy="33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3E53E95-EBD5-78AE-B029-E0972D3FA519}"/>
              </a:ext>
            </a:extLst>
          </p:cNvPr>
          <p:cNvSpPr txBox="1"/>
          <p:nvPr/>
        </p:nvSpPr>
        <p:spPr>
          <a:xfrm>
            <a:off x="8509000" y="2565400"/>
            <a:ext cx="12192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CN" altLang="en-US" sz="1100" b="1">
                <a:solidFill>
                  <a:srgbClr val="E07A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本阶段目标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48C425E-6C60-3FED-85C7-32789EA2AC17}"/>
              </a:ext>
            </a:extLst>
          </p:cNvPr>
          <p:cNvSpPr txBox="1"/>
          <p:nvPr/>
        </p:nvSpPr>
        <p:spPr>
          <a:xfrm>
            <a:off x="8407400" y="3175000"/>
            <a:ext cx="2603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>
                <a:solidFill>
                  <a:srgbClr val="2430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先建立可解释的</a:t>
            </a:r>
          </a:p>
          <a:p>
            <a:r>
              <a:rPr lang="zh-CN" altLang="en-US">
                <a:solidFill>
                  <a:srgbClr val="2430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离线算法原型</a:t>
            </a:r>
          </a:p>
          <a:p>
            <a:endParaRPr lang="zh-CN" altLang="en-US">
              <a:solidFill>
                <a:srgbClr val="24303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zh-CN" altLang="en-US">
                <a:solidFill>
                  <a:srgbClr val="2430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再转化为可执行程序</a:t>
            </a:r>
          </a:p>
          <a:p>
            <a:r>
              <a:rPr lang="zh-CN" altLang="en-US">
                <a:solidFill>
                  <a:srgbClr val="2430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并用标准和实测数据验证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6EFED23-355A-45B8-75F1-D32E90699563}"/>
              </a:ext>
            </a:extLst>
          </p:cNvPr>
          <p:cNvSpPr txBox="1"/>
          <p:nvPr/>
        </p:nvSpPr>
        <p:spPr>
          <a:xfrm>
            <a:off x="685800" y="64135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00">
                <a:solidFill>
                  <a:srgbClr val="5E6F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汇报的重点不是“程序已经完成”，而是先把测量原理、数据链路和验证边界讲清楚。</a:t>
            </a:r>
          </a:p>
        </p:txBody>
      </p:sp>
    </p:spTree>
    <p:extLst>
      <p:ext uri="{BB962C8B-B14F-4D97-AF65-F5344CB8AC3E}">
        <p14:creationId xmlns:p14="http://schemas.microsoft.com/office/powerpoint/2010/main" val="3372136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D581DD7-9256-EA2E-8322-068BAE6AF4C9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22A6A1"/>
          </a:solidFill>
          <a:ln w="12700">
            <a:solidFill>
              <a:srgbClr val="22A6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E41B929-A7D8-52B7-CDF9-A52ED00D37F8}"/>
              </a:ext>
            </a:extLst>
          </p:cNvPr>
          <p:cNvSpPr txBox="1"/>
          <p:nvPr/>
        </p:nvSpPr>
        <p:spPr>
          <a:xfrm>
            <a:off x="685800" y="355600"/>
            <a:ext cx="914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2500" b="1">
                <a:solidFill>
                  <a:srgbClr val="1732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测量思路：用光斑位移反推出镜片的光学作用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72A9DBE-218E-3102-5DAE-32897F713206}"/>
              </a:ext>
            </a:extLst>
          </p:cNvPr>
          <p:cNvSpPr txBox="1"/>
          <p:nvPr/>
        </p:nvSpPr>
        <p:spPr>
          <a:xfrm>
            <a:off x="9652000" y="406400"/>
            <a:ext cx="1841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zh-CN" altLang="en-US" sz="1000">
                <a:solidFill>
                  <a:srgbClr val="5E6F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焦度计项目  </a:t>
            </a:r>
            <a:r>
              <a:rPr lang="en-US" altLang="zh-CN" sz="1000">
                <a:solidFill>
                  <a:srgbClr val="5E6F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|  03</a:t>
            </a:r>
            <a:endParaRPr lang="zh-CN" altLang="en-US" sz="1000">
              <a:solidFill>
                <a:srgbClr val="5E6F7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CEC69854-D17C-FF97-B8E5-996B50C1939F}"/>
              </a:ext>
            </a:extLst>
          </p:cNvPr>
          <p:cNvCxnSpPr/>
          <p:nvPr/>
        </p:nvCxnSpPr>
        <p:spPr>
          <a:xfrm>
            <a:off x="685800" y="965200"/>
            <a:ext cx="10820400" cy="0"/>
          </a:xfrm>
          <a:prstGeom prst="line">
            <a:avLst/>
          </a:prstGeom>
          <a:ln w="12700">
            <a:solidFill>
              <a:srgbClr val="D2DC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FBCF13AC-39F6-3DF2-683C-3D8142A7D19F}"/>
              </a:ext>
            </a:extLst>
          </p:cNvPr>
          <p:cNvSpPr txBox="1"/>
          <p:nvPr/>
        </p:nvSpPr>
        <p:spPr>
          <a:xfrm>
            <a:off x="685800" y="13081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b="1">
                <a:solidFill>
                  <a:srgbClr val="1732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平行光经过镜片后发生偏折，传播到观察屏时，光斑位置发生改变。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0FEA7CDC-E948-CC04-2AF4-0BD83E4FABFF}"/>
              </a:ext>
            </a:extLst>
          </p:cNvPr>
          <p:cNvSpPr/>
          <p:nvPr/>
        </p:nvSpPr>
        <p:spPr>
          <a:xfrm>
            <a:off x="685800" y="1968500"/>
            <a:ext cx="1219200" cy="330200"/>
          </a:xfrm>
          <a:prstGeom prst="roundRect">
            <a:avLst/>
          </a:prstGeom>
          <a:solidFill>
            <a:srgbClr val="E8F1FA"/>
          </a:solidFill>
          <a:ln w="12700">
            <a:solidFill>
              <a:srgbClr val="E8F1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B43B3C9-FECF-DDC4-9C42-5C8C3E4D1627}"/>
              </a:ext>
            </a:extLst>
          </p:cNvPr>
          <p:cNvSpPr txBox="1"/>
          <p:nvPr/>
        </p:nvSpPr>
        <p:spPr>
          <a:xfrm>
            <a:off x="787400" y="2019300"/>
            <a:ext cx="101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CN" altLang="en-US" sz="1100" b="1">
                <a:solidFill>
                  <a:srgbClr val="3D7E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光路示意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C1B08012-97BD-F1A6-97F4-E5B4F1A0E72A}"/>
              </a:ext>
            </a:extLst>
          </p:cNvPr>
          <p:cNvSpPr/>
          <p:nvPr/>
        </p:nvSpPr>
        <p:spPr>
          <a:xfrm>
            <a:off x="1143000" y="3530600"/>
            <a:ext cx="381000" cy="381000"/>
          </a:xfrm>
          <a:prstGeom prst="ellipse">
            <a:avLst/>
          </a:prstGeom>
          <a:solidFill>
            <a:srgbClr val="E07A3F"/>
          </a:solidFill>
          <a:ln w="12700">
            <a:solidFill>
              <a:srgbClr val="E07A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B8A73E6-ACB8-DE8D-3C23-A461FCD7CFD8}"/>
              </a:ext>
            </a:extLst>
          </p:cNvPr>
          <p:cNvSpPr txBox="1"/>
          <p:nvPr/>
        </p:nvSpPr>
        <p:spPr>
          <a:xfrm>
            <a:off x="914400" y="4114800"/>
            <a:ext cx="88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CN" altLang="en-US" sz="1300">
                <a:solidFill>
                  <a:srgbClr val="5E6F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点光源</a:t>
            </a: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B4E1124C-F188-1DDC-853D-143542D72481}"/>
              </a:ext>
            </a:extLst>
          </p:cNvPr>
          <p:cNvCxnSpPr/>
          <p:nvPr/>
        </p:nvCxnSpPr>
        <p:spPr>
          <a:xfrm>
            <a:off x="1524000" y="3721100"/>
            <a:ext cx="1168400" cy="0"/>
          </a:xfrm>
          <a:prstGeom prst="line">
            <a:avLst/>
          </a:prstGeom>
          <a:ln w="25400">
            <a:solidFill>
              <a:srgbClr val="22A6A1"/>
            </a:solidFill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9BF75E70-98F1-F0DD-2366-17AB8E73C5D3}"/>
              </a:ext>
            </a:extLst>
          </p:cNvPr>
          <p:cNvSpPr/>
          <p:nvPr/>
        </p:nvSpPr>
        <p:spPr>
          <a:xfrm>
            <a:off x="2692400" y="2984500"/>
            <a:ext cx="203200" cy="1473200"/>
          </a:xfrm>
          <a:prstGeom prst="rect">
            <a:avLst/>
          </a:prstGeom>
          <a:solidFill>
            <a:srgbClr val="E8F1FA"/>
          </a:solidFill>
          <a:ln w="12700">
            <a:solidFill>
              <a:srgbClr val="3D7E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EDD1166-57AE-B654-6594-BA03348FD072}"/>
              </a:ext>
            </a:extLst>
          </p:cNvPr>
          <p:cNvSpPr/>
          <p:nvPr/>
        </p:nvSpPr>
        <p:spPr>
          <a:xfrm>
            <a:off x="3073400" y="2984500"/>
            <a:ext cx="203200" cy="1473200"/>
          </a:xfrm>
          <a:prstGeom prst="rect">
            <a:avLst/>
          </a:prstGeom>
          <a:solidFill>
            <a:srgbClr val="E8F1FA"/>
          </a:solidFill>
          <a:ln w="12700">
            <a:solidFill>
              <a:srgbClr val="3D7E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A3D927C-D8EE-D379-9FA1-4DFAFE3BB2CD}"/>
              </a:ext>
            </a:extLst>
          </p:cNvPr>
          <p:cNvSpPr txBox="1"/>
          <p:nvPr/>
        </p:nvSpPr>
        <p:spPr>
          <a:xfrm>
            <a:off x="2565400" y="4699000"/>
            <a:ext cx="88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CN" altLang="en-US" sz="1300">
                <a:solidFill>
                  <a:srgbClr val="5E6F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准直镜</a:t>
            </a: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8CFFCE98-92D8-1C2C-C51A-B4C921EBF489}"/>
              </a:ext>
            </a:extLst>
          </p:cNvPr>
          <p:cNvCxnSpPr/>
          <p:nvPr/>
        </p:nvCxnSpPr>
        <p:spPr>
          <a:xfrm>
            <a:off x="3276600" y="3721100"/>
            <a:ext cx="1397000" cy="0"/>
          </a:xfrm>
          <a:prstGeom prst="line">
            <a:avLst/>
          </a:prstGeom>
          <a:ln w="25400">
            <a:solidFill>
              <a:srgbClr val="22A6A1"/>
            </a:solidFill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58201469-CBC2-9D80-9FC5-CA9A269FA7DA}"/>
              </a:ext>
            </a:extLst>
          </p:cNvPr>
          <p:cNvSpPr/>
          <p:nvPr/>
        </p:nvSpPr>
        <p:spPr>
          <a:xfrm>
            <a:off x="4673600" y="2794000"/>
            <a:ext cx="685800" cy="1854200"/>
          </a:xfrm>
          <a:prstGeom prst="roundRect">
            <a:avLst/>
          </a:prstGeom>
          <a:solidFill>
            <a:srgbClr val="FCEEE5"/>
          </a:solidFill>
          <a:ln w="12700">
            <a:solidFill>
              <a:srgbClr val="E07A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470C606-BFA0-DCE9-60E0-4B364B3150E5}"/>
              </a:ext>
            </a:extLst>
          </p:cNvPr>
          <p:cNvSpPr txBox="1"/>
          <p:nvPr/>
        </p:nvSpPr>
        <p:spPr>
          <a:xfrm>
            <a:off x="4800600" y="3340100"/>
            <a:ext cx="431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CN" altLang="en-US" sz="1400" b="1">
                <a:solidFill>
                  <a:srgbClr val="1732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被测</a:t>
            </a:r>
          </a:p>
          <a:p>
            <a:pPr algn="ctr"/>
            <a:r>
              <a:rPr lang="zh-CN" altLang="en-US" sz="1400" b="1">
                <a:solidFill>
                  <a:srgbClr val="1732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镜片</a:t>
            </a: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11A3D0CC-4C42-04D1-6052-90341D08EC03}"/>
              </a:ext>
            </a:extLst>
          </p:cNvPr>
          <p:cNvCxnSpPr/>
          <p:nvPr/>
        </p:nvCxnSpPr>
        <p:spPr>
          <a:xfrm>
            <a:off x="5359400" y="3721100"/>
            <a:ext cx="1244600" cy="0"/>
          </a:xfrm>
          <a:prstGeom prst="line">
            <a:avLst/>
          </a:prstGeom>
          <a:ln w="25400">
            <a:solidFill>
              <a:srgbClr val="22A6A1"/>
            </a:solidFill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DC7ABE68-AC98-54C6-21AA-CFCB2D91C844}"/>
              </a:ext>
            </a:extLst>
          </p:cNvPr>
          <p:cNvSpPr/>
          <p:nvPr/>
        </p:nvSpPr>
        <p:spPr>
          <a:xfrm>
            <a:off x="6604000" y="2921000"/>
            <a:ext cx="177800" cy="1600200"/>
          </a:xfrm>
          <a:prstGeom prst="rect">
            <a:avLst/>
          </a:prstGeom>
          <a:solidFill>
            <a:srgbClr val="E2F5F3"/>
          </a:solidFill>
          <a:ln w="12700">
            <a:solidFill>
              <a:srgbClr val="22A6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47A89A7-2FA0-90D0-C367-8890D9D8B89A}"/>
              </a:ext>
            </a:extLst>
          </p:cNvPr>
          <p:cNvSpPr txBox="1"/>
          <p:nvPr/>
        </p:nvSpPr>
        <p:spPr>
          <a:xfrm>
            <a:off x="6959600" y="3340100"/>
            <a:ext cx="91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400" b="1">
                <a:solidFill>
                  <a:srgbClr val="1732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哈特曼</a:t>
            </a:r>
          </a:p>
          <a:p>
            <a:r>
              <a:rPr lang="zh-CN" altLang="en-US" sz="1400" b="1">
                <a:solidFill>
                  <a:srgbClr val="1732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光阑</a:t>
            </a: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4FD1E442-C5EE-29BD-9D75-6A44ADE5DF57}"/>
              </a:ext>
            </a:extLst>
          </p:cNvPr>
          <p:cNvCxnSpPr/>
          <p:nvPr/>
        </p:nvCxnSpPr>
        <p:spPr>
          <a:xfrm>
            <a:off x="6781800" y="3721100"/>
            <a:ext cx="1600200" cy="0"/>
          </a:xfrm>
          <a:prstGeom prst="line">
            <a:avLst/>
          </a:prstGeom>
          <a:ln w="25400">
            <a:solidFill>
              <a:srgbClr val="22A6A1"/>
            </a:solidFill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矩形 21">
            <a:extLst>
              <a:ext uri="{FF2B5EF4-FFF2-40B4-BE49-F238E27FC236}">
                <a16:creationId xmlns:a16="http://schemas.microsoft.com/office/drawing/2014/main" id="{B0966400-E437-A06E-1E1E-B8A4EF4BC1FD}"/>
              </a:ext>
            </a:extLst>
          </p:cNvPr>
          <p:cNvSpPr/>
          <p:nvPr/>
        </p:nvSpPr>
        <p:spPr>
          <a:xfrm>
            <a:off x="8382000" y="2717800"/>
            <a:ext cx="203200" cy="203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732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B66B18E-4A3E-ABA6-908D-8D7EBD4F7D61}"/>
              </a:ext>
            </a:extLst>
          </p:cNvPr>
          <p:cNvSpPr txBox="1"/>
          <p:nvPr/>
        </p:nvSpPr>
        <p:spPr>
          <a:xfrm>
            <a:off x="7950200" y="4940300"/>
            <a:ext cx="1244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CN" altLang="en-US" sz="1300">
                <a:solidFill>
                  <a:srgbClr val="5E6F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观察屏 </a:t>
            </a:r>
            <a:r>
              <a:rPr lang="en-US" altLang="zh-CN" sz="1300">
                <a:solidFill>
                  <a:srgbClr val="5E6F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300">
                <a:solidFill>
                  <a:srgbClr val="5E6F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相机</a:t>
            </a: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0E6BB25D-957E-93A9-71CE-68CB57E13350}"/>
              </a:ext>
            </a:extLst>
          </p:cNvPr>
          <p:cNvSpPr/>
          <p:nvPr/>
        </p:nvSpPr>
        <p:spPr>
          <a:xfrm>
            <a:off x="8724900" y="3251200"/>
            <a:ext cx="152400" cy="152400"/>
          </a:xfrm>
          <a:prstGeom prst="ellipse">
            <a:avLst/>
          </a:prstGeom>
          <a:solidFill>
            <a:srgbClr val="22A6A1"/>
          </a:solidFill>
          <a:ln w="12700">
            <a:solidFill>
              <a:srgbClr val="22A6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78182954-4DED-6B7D-5083-B2D2CE6C0DF1}"/>
              </a:ext>
            </a:extLst>
          </p:cNvPr>
          <p:cNvSpPr/>
          <p:nvPr/>
        </p:nvSpPr>
        <p:spPr>
          <a:xfrm>
            <a:off x="8724900" y="3632200"/>
            <a:ext cx="152400" cy="152400"/>
          </a:xfrm>
          <a:prstGeom prst="ellipse">
            <a:avLst/>
          </a:prstGeom>
          <a:solidFill>
            <a:srgbClr val="22A6A1"/>
          </a:solidFill>
          <a:ln w="12700">
            <a:solidFill>
              <a:srgbClr val="22A6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741F2A51-12E9-C41B-9BAF-8FFC2B9E5424}"/>
              </a:ext>
            </a:extLst>
          </p:cNvPr>
          <p:cNvSpPr/>
          <p:nvPr/>
        </p:nvSpPr>
        <p:spPr>
          <a:xfrm>
            <a:off x="8724900" y="4013200"/>
            <a:ext cx="152400" cy="152400"/>
          </a:xfrm>
          <a:prstGeom prst="ellipse">
            <a:avLst/>
          </a:prstGeom>
          <a:solidFill>
            <a:srgbClr val="22A6A1"/>
          </a:solidFill>
          <a:ln w="12700">
            <a:solidFill>
              <a:srgbClr val="22A6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6A134994-2AF5-F00E-C404-52C4F1B9621D}"/>
              </a:ext>
            </a:extLst>
          </p:cNvPr>
          <p:cNvSpPr/>
          <p:nvPr/>
        </p:nvSpPr>
        <p:spPr>
          <a:xfrm>
            <a:off x="685800" y="5461000"/>
            <a:ext cx="10820400" cy="99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5DD8BC32-470C-8FB1-D85D-3E48BEC19672}"/>
              </a:ext>
            </a:extLst>
          </p:cNvPr>
          <p:cNvSpPr txBox="1"/>
          <p:nvPr/>
        </p:nvSpPr>
        <p:spPr>
          <a:xfrm>
            <a:off x="990600" y="5651500"/>
            <a:ext cx="127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500" b="1">
                <a:solidFill>
                  <a:srgbClr val="1732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关键变量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A6885927-124A-D607-90A0-7ED568C33BEC}"/>
              </a:ext>
            </a:extLst>
          </p:cNvPr>
          <p:cNvSpPr txBox="1"/>
          <p:nvPr/>
        </p:nvSpPr>
        <p:spPr>
          <a:xfrm>
            <a:off x="2590800" y="5651500"/>
            <a:ext cx="850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500">
                <a:solidFill>
                  <a:srgbClr val="2430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光斑初始位置  →  光斑测量位置  →  位移 </a:t>
            </a:r>
            <a:r>
              <a:rPr lang="en-US" altLang="zh-CN" sz="1500">
                <a:solidFill>
                  <a:srgbClr val="2430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Δx</a:t>
            </a:r>
            <a:r>
              <a:rPr lang="zh-CN" altLang="en-US" sz="1500">
                <a:solidFill>
                  <a:srgbClr val="2430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500">
                <a:solidFill>
                  <a:srgbClr val="2430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Δy  →  </a:t>
            </a:r>
            <a:r>
              <a:rPr lang="zh-CN" altLang="en-US" sz="1500">
                <a:solidFill>
                  <a:srgbClr val="2430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球镜度 </a:t>
            </a:r>
            <a:r>
              <a:rPr lang="en-US" altLang="zh-CN" sz="1500">
                <a:solidFill>
                  <a:srgbClr val="2430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500">
                <a:solidFill>
                  <a:srgbClr val="2430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柱镜度 </a:t>
            </a:r>
            <a:r>
              <a:rPr lang="en-US" altLang="zh-CN" sz="1500">
                <a:solidFill>
                  <a:srgbClr val="2430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500">
                <a:solidFill>
                  <a:srgbClr val="2430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轴位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AED9B748-3953-904D-1D60-5A0941378324}"/>
              </a:ext>
            </a:extLst>
          </p:cNvPr>
          <p:cNvSpPr txBox="1"/>
          <p:nvPr/>
        </p:nvSpPr>
        <p:spPr>
          <a:xfrm>
            <a:off x="990600" y="6070600"/>
            <a:ext cx="990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100">
                <a:solidFill>
                  <a:srgbClr val="E07A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计算必须由实际光路参数和项目 </a:t>
            </a:r>
            <a:r>
              <a:rPr lang="en-US" altLang="zh-CN" sz="1100">
                <a:solidFill>
                  <a:srgbClr val="E07A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PPT </a:t>
            </a:r>
            <a:r>
              <a:rPr lang="zh-CN" altLang="en-US" sz="1100">
                <a:solidFill>
                  <a:srgbClr val="E07A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推导确认，不能直接照搬外部论文公式。</a:t>
            </a:r>
          </a:p>
        </p:txBody>
      </p:sp>
    </p:spTree>
    <p:extLst>
      <p:ext uri="{BB962C8B-B14F-4D97-AF65-F5344CB8AC3E}">
        <p14:creationId xmlns:p14="http://schemas.microsoft.com/office/powerpoint/2010/main" val="38664929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A672B28-FB66-F369-E8D0-825FEA2E0C6B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22A6A1"/>
          </a:solidFill>
          <a:ln w="12700">
            <a:solidFill>
              <a:srgbClr val="22A6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939F368-74DC-5F8F-C145-3C77FF75FCC4}"/>
              </a:ext>
            </a:extLst>
          </p:cNvPr>
          <p:cNvSpPr txBox="1"/>
          <p:nvPr/>
        </p:nvSpPr>
        <p:spPr>
          <a:xfrm>
            <a:off x="685800" y="355600"/>
            <a:ext cx="914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2500" b="1">
                <a:solidFill>
                  <a:srgbClr val="1732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核心数据：比较参考状态与测量状态的五个光斑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5AE4B72-EB11-84FE-8A2C-17E5AD0DC14B}"/>
              </a:ext>
            </a:extLst>
          </p:cNvPr>
          <p:cNvSpPr txBox="1"/>
          <p:nvPr/>
        </p:nvSpPr>
        <p:spPr>
          <a:xfrm>
            <a:off x="9652000" y="406400"/>
            <a:ext cx="1841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zh-CN" altLang="en-US" sz="1000">
                <a:solidFill>
                  <a:srgbClr val="5E6F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焦度计项目  </a:t>
            </a:r>
            <a:r>
              <a:rPr lang="en-US" altLang="zh-CN" sz="1000">
                <a:solidFill>
                  <a:srgbClr val="5E6F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|  04</a:t>
            </a:r>
            <a:endParaRPr lang="zh-CN" altLang="en-US" sz="1000">
              <a:solidFill>
                <a:srgbClr val="5E6F7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CED3DDD8-C336-79CF-9745-E7EB0064A54D}"/>
              </a:ext>
            </a:extLst>
          </p:cNvPr>
          <p:cNvCxnSpPr/>
          <p:nvPr/>
        </p:nvCxnSpPr>
        <p:spPr>
          <a:xfrm>
            <a:off x="685800" y="965200"/>
            <a:ext cx="10820400" cy="0"/>
          </a:xfrm>
          <a:prstGeom prst="line">
            <a:avLst/>
          </a:prstGeom>
          <a:ln w="12700">
            <a:solidFill>
              <a:srgbClr val="D2DC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AB6B8935-42C2-1365-9D2F-3DBB486D0E85}"/>
              </a:ext>
            </a:extLst>
          </p:cNvPr>
          <p:cNvSpPr txBox="1"/>
          <p:nvPr/>
        </p:nvSpPr>
        <p:spPr>
          <a:xfrm>
            <a:off x="685800" y="13081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b="1">
                <a:solidFill>
                  <a:srgbClr val="1732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标定不是附加步骤，而是把光学系统安装误差从测量结果中分离出来。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D7923616-342B-5A11-6719-7F91B6EEAEC8}"/>
              </a:ext>
            </a:extLst>
          </p:cNvPr>
          <p:cNvSpPr/>
          <p:nvPr/>
        </p:nvSpPr>
        <p:spPr>
          <a:xfrm>
            <a:off x="1041400" y="2032000"/>
            <a:ext cx="1092200" cy="330200"/>
          </a:xfrm>
          <a:prstGeom prst="roundRect">
            <a:avLst/>
          </a:prstGeom>
          <a:solidFill>
            <a:srgbClr val="E8F1FA"/>
          </a:solidFill>
          <a:ln w="12700">
            <a:solidFill>
              <a:srgbClr val="E8F1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A4E7F39-AC20-CE76-AE7A-B3C6FED8E000}"/>
              </a:ext>
            </a:extLst>
          </p:cNvPr>
          <p:cNvSpPr txBox="1"/>
          <p:nvPr/>
        </p:nvSpPr>
        <p:spPr>
          <a:xfrm>
            <a:off x="1143000" y="2082800"/>
            <a:ext cx="88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CN" altLang="en-US" sz="1100" b="1">
                <a:solidFill>
                  <a:srgbClr val="3D7E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参考图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EAD5E952-3CC7-AE5F-F168-A42090564423}"/>
              </a:ext>
            </a:extLst>
          </p:cNvPr>
          <p:cNvSpPr/>
          <p:nvPr/>
        </p:nvSpPr>
        <p:spPr>
          <a:xfrm>
            <a:off x="5791200" y="2032000"/>
            <a:ext cx="1092200" cy="330200"/>
          </a:xfrm>
          <a:prstGeom prst="roundRect">
            <a:avLst/>
          </a:prstGeom>
          <a:solidFill>
            <a:srgbClr val="FCEEE5"/>
          </a:solidFill>
          <a:ln w="12700">
            <a:solidFill>
              <a:srgbClr val="FCEE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BD7893F-71E1-89C2-886C-03F7D69E7DE3}"/>
              </a:ext>
            </a:extLst>
          </p:cNvPr>
          <p:cNvSpPr txBox="1"/>
          <p:nvPr/>
        </p:nvSpPr>
        <p:spPr>
          <a:xfrm>
            <a:off x="5892800" y="2082800"/>
            <a:ext cx="88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CN" altLang="en-US" sz="1100" b="1">
                <a:solidFill>
                  <a:srgbClr val="E07A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测量图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B49F99E8-1A34-5155-4CA6-4072637F80DA}"/>
              </a:ext>
            </a:extLst>
          </p:cNvPr>
          <p:cNvSpPr/>
          <p:nvPr/>
        </p:nvSpPr>
        <p:spPr>
          <a:xfrm>
            <a:off x="889000" y="2667000"/>
            <a:ext cx="3556000" cy="2921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4530C3EE-1755-B638-FF7F-C7A8CA8F22D3}"/>
              </a:ext>
            </a:extLst>
          </p:cNvPr>
          <p:cNvSpPr/>
          <p:nvPr/>
        </p:nvSpPr>
        <p:spPr>
          <a:xfrm>
            <a:off x="5638800" y="2667000"/>
            <a:ext cx="3556000" cy="2921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EAEF50A3-4300-2B74-DA41-851FA988DAAC}"/>
              </a:ext>
            </a:extLst>
          </p:cNvPr>
          <p:cNvSpPr/>
          <p:nvPr/>
        </p:nvSpPr>
        <p:spPr>
          <a:xfrm>
            <a:off x="2476500" y="3429000"/>
            <a:ext cx="228600" cy="228600"/>
          </a:xfrm>
          <a:prstGeom prst="ellipse">
            <a:avLst/>
          </a:prstGeom>
          <a:solidFill>
            <a:srgbClr val="3D7EB8"/>
          </a:solidFill>
          <a:ln w="12700">
            <a:solidFill>
              <a:srgbClr val="3D7E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A42C4476-BA94-E497-67CD-DE2A0BB8C705}"/>
              </a:ext>
            </a:extLst>
          </p:cNvPr>
          <p:cNvSpPr/>
          <p:nvPr/>
        </p:nvSpPr>
        <p:spPr>
          <a:xfrm>
            <a:off x="1778000" y="3429000"/>
            <a:ext cx="228600" cy="228600"/>
          </a:xfrm>
          <a:prstGeom prst="ellipse">
            <a:avLst/>
          </a:prstGeom>
          <a:solidFill>
            <a:srgbClr val="3D7EB8"/>
          </a:solidFill>
          <a:ln w="12700">
            <a:solidFill>
              <a:srgbClr val="3D7E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20A1ED86-C124-898D-2A00-AE3A6A7404EB}"/>
              </a:ext>
            </a:extLst>
          </p:cNvPr>
          <p:cNvSpPr/>
          <p:nvPr/>
        </p:nvSpPr>
        <p:spPr>
          <a:xfrm>
            <a:off x="3175000" y="3429000"/>
            <a:ext cx="228600" cy="228600"/>
          </a:xfrm>
          <a:prstGeom prst="ellipse">
            <a:avLst/>
          </a:prstGeom>
          <a:solidFill>
            <a:srgbClr val="3D7EB8"/>
          </a:solidFill>
          <a:ln w="12700">
            <a:solidFill>
              <a:srgbClr val="3D7E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0ADF6DFF-E587-FA7C-929A-F0D083E6A232}"/>
              </a:ext>
            </a:extLst>
          </p:cNvPr>
          <p:cNvSpPr/>
          <p:nvPr/>
        </p:nvSpPr>
        <p:spPr>
          <a:xfrm>
            <a:off x="2476500" y="2857500"/>
            <a:ext cx="228600" cy="228600"/>
          </a:xfrm>
          <a:prstGeom prst="ellipse">
            <a:avLst/>
          </a:prstGeom>
          <a:solidFill>
            <a:srgbClr val="3D7EB8"/>
          </a:solidFill>
          <a:ln w="12700">
            <a:solidFill>
              <a:srgbClr val="3D7E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ACA23FE3-7DBB-409E-9A74-88FF48293FAE}"/>
              </a:ext>
            </a:extLst>
          </p:cNvPr>
          <p:cNvSpPr/>
          <p:nvPr/>
        </p:nvSpPr>
        <p:spPr>
          <a:xfrm>
            <a:off x="2476500" y="4000500"/>
            <a:ext cx="228600" cy="228600"/>
          </a:xfrm>
          <a:prstGeom prst="ellipse">
            <a:avLst/>
          </a:prstGeom>
          <a:solidFill>
            <a:srgbClr val="3D7EB8"/>
          </a:solidFill>
          <a:ln w="12700">
            <a:solidFill>
              <a:srgbClr val="3D7E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02732986-11CC-169C-C80E-E6DA8F989D2C}"/>
              </a:ext>
            </a:extLst>
          </p:cNvPr>
          <p:cNvSpPr/>
          <p:nvPr/>
        </p:nvSpPr>
        <p:spPr>
          <a:xfrm>
            <a:off x="7226300" y="3429000"/>
            <a:ext cx="228600" cy="228600"/>
          </a:xfrm>
          <a:prstGeom prst="ellipse">
            <a:avLst/>
          </a:prstGeom>
          <a:solidFill>
            <a:srgbClr val="E07A3F"/>
          </a:solidFill>
          <a:ln w="12700">
            <a:solidFill>
              <a:srgbClr val="E07A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13B6AA1C-3C6D-A9D0-DF2D-DBABB169A25C}"/>
              </a:ext>
            </a:extLst>
          </p:cNvPr>
          <p:cNvSpPr/>
          <p:nvPr/>
        </p:nvSpPr>
        <p:spPr>
          <a:xfrm>
            <a:off x="6604000" y="3225800"/>
            <a:ext cx="228600" cy="228600"/>
          </a:xfrm>
          <a:prstGeom prst="ellipse">
            <a:avLst/>
          </a:prstGeom>
          <a:solidFill>
            <a:srgbClr val="E07A3F"/>
          </a:solidFill>
          <a:ln w="12700">
            <a:solidFill>
              <a:srgbClr val="E07A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1542094C-FEE3-677A-6A74-2738AED01F32}"/>
              </a:ext>
            </a:extLst>
          </p:cNvPr>
          <p:cNvSpPr/>
          <p:nvPr/>
        </p:nvSpPr>
        <p:spPr>
          <a:xfrm>
            <a:off x="7950200" y="3657600"/>
            <a:ext cx="228600" cy="228600"/>
          </a:xfrm>
          <a:prstGeom prst="ellipse">
            <a:avLst/>
          </a:prstGeom>
          <a:solidFill>
            <a:srgbClr val="E07A3F"/>
          </a:solidFill>
          <a:ln w="12700">
            <a:solidFill>
              <a:srgbClr val="E07A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B8D70E44-0F59-ADB1-2952-EFB457FD6BB5}"/>
              </a:ext>
            </a:extLst>
          </p:cNvPr>
          <p:cNvSpPr/>
          <p:nvPr/>
        </p:nvSpPr>
        <p:spPr>
          <a:xfrm>
            <a:off x="7416800" y="2794000"/>
            <a:ext cx="228600" cy="228600"/>
          </a:xfrm>
          <a:prstGeom prst="ellipse">
            <a:avLst/>
          </a:prstGeom>
          <a:solidFill>
            <a:srgbClr val="E07A3F"/>
          </a:solidFill>
          <a:ln w="12700">
            <a:solidFill>
              <a:srgbClr val="E07A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FF79307D-9199-678F-23C6-CB7119F3D8C4}"/>
              </a:ext>
            </a:extLst>
          </p:cNvPr>
          <p:cNvSpPr/>
          <p:nvPr/>
        </p:nvSpPr>
        <p:spPr>
          <a:xfrm>
            <a:off x="7086600" y="4102100"/>
            <a:ext cx="228600" cy="228600"/>
          </a:xfrm>
          <a:prstGeom prst="ellipse">
            <a:avLst/>
          </a:prstGeom>
          <a:solidFill>
            <a:srgbClr val="E07A3F"/>
          </a:solidFill>
          <a:ln w="12700">
            <a:solidFill>
              <a:srgbClr val="E07A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1B20D6A8-8B54-FD05-5B6A-38B4CB6A9539}"/>
              </a:ext>
            </a:extLst>
          </p:cNvPr>
          <p:cNvCxnSpPr/>
          <p:nvPr/>
        </p:nvCxnSpPr>
        <p:spPr>
          <a:xfrm>
            <a:off x="4445000" y="3683000"/>
            <a:ext cx="1193800" cy="0"/>
          </a:xfrm>
          <a:prstGeom prst="line">
            <a:avLst/>
          </a:prstGeom>
          <a:ln w="25400">
            <a:solidFill>
              <a:srgbClr val="5E6F7E"/>
            </a:solidFill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B86ED726-AF12-8E31-1698-5E8C26071306}"/>
              </a:ext>
            </a:extLst>
          </p:cNvPr>
          <p:cNvSpPr txBox="1"/>
          <p:nvPr/>
        </p:nvSpPr>
        <p:spPr>
          <a:xfrm>
            <a:off x="4406900" y="4025900"/>
            <a:ext cx="1320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CN" altLang="en-US" sz="1300">
                <a:solidFill>
                  <a:srgbClr val="5E6F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同一光阑结构</a:t>
            </a:r>
          </a:p>
          <a:p>
            <a:pPr algn="ctr"/>
            <a:r>
              <a:rPr lang="zh-CN" altLang="en-US" sz="1300">
                <a:solidFill>
                  <a:srgbClr val="5E6F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不同光斑位置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C6F55E41-343F-D702-F383-6D6BE16FEE19}"/>
              </a:ext>
            </a:extLst>
          </p:cNvPr>
          <p:cNvSpPr txBox="1"/>
          <p:nvPr/>
        </p:nvSpPr>
        <p:spPr>
          <a:xfrm>
            <a:off x="889000" y="5740400"/>
            <a:ext cx="355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400">
                <a:solidFill>
                  <a:srgbClr val="2430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中心点：建立原点</a:t>
            </a:r>
          </a:p>
          <a:p>
            <a:r>
              <a:rPr lang="zh-CN" altLang="en-US" sz="1400">
                <a:solidFill>
                  <a:srgbClr val="2430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四周点：确定两个方向</a:t>
            </a:r>
          </a:p>
          <a:p>
            <a:endParaRPr lang="zh-CN" altLang="en-US" sz="1400">
              <a:solidFill>
                <a:srgbClr val="24303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zh-CN" altLang="en-US" sz="1400">
                <a:solidFill>
                  <a:srgbClr val="2430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比较两组坐标的差值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72045722-EE7D-17E9-8779-4DE0369F64E9}"/>
              </a:ext>
            </a:extLst>
          </p:cNvPr>
          <p:cNvSpPr txBox="1"/>
          <p:nvPr/>
        </p:nvSpPr>
        <p:spPr>
          <a:xfrm>
            <a:off x="5638800" y="57404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400">
                <a:solidFill>
                  <a:srgbClr val="2430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Δx = x</a:t>
            </a:r>
            <a:r>
              <a:rPr lang="zh-CN" altLang="en-US" sz="1400">
                <a:solidFill>
                  <a:srgbClr val="2430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测量 </a:t>
            </a:r>
            <a:r>
              <a:rPr lang="en-US" altLang="zh-CN" sz="1400">
                <a:solidFill>
                  <a:srgbClr val="2430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 x</a:t>
            </a:r>
            <a:r>
              <a:rPr lang="zh-CN" altLang="en-US" sz="1400">
                <a:solidFill>
                  <a:srgbClr val="2430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参考</a:t>
            </a:r>
          </a:p>
          <a:p>
            <a:r>
              <a:rPr lang="en-US" altLang="zh-CN" sz="1400">
                <a:solidFill>
                  <a:srgbClr val="2430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Δy = y</a:t>
            </a:r>
            <a:r>
              <a:rPr lang="zh-CN" altLang="en-US" sz="1400">
                <a:solidFill>
                  <a:srgbClr val="2430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测量 </a:t>
            </a:r>
            <a:r>
              <a:rPr lang="en-US" altLang="zh-CN" sz="1400">
                <a:solidFill>
                  <a:srgbClr val="2430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 y</a:t>
            </a:r>
            <a:r>
              <a:rPr lang="zh-CN" altLang="en-US" sz="1400">
                <a:solidFill>
                  <a:srgbClr val="2430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参考</a:t>
            </a:r>
          </a:p>
          <a:p>
            <a:endParaRPr lang="zh-CN" altLang="en-US" sz="1400">
              <a:solidFill>
                <a:srgbClr val="24303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zh-CN" altLang="en-US" sz="1400">
                <a:solidFill>
                  <a:srgbClr val="2430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位移方向和大小体现镜片的球面、柱面作用</a:t>
            </a:r>
          </a:p>
        </p:txBody>
      </p:sp>
    </p:spTree>
    <p:extLst>
      <p:ext uri="{BB962C8B-B14F-4D97-AF65-F5344CB8AC3E}">
        <p14:creationId xmlns:p14="http://schemas.microsoft.com/office/powerpoint/2010/main" val="30075691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BC08CB9-8735-0D15-BBDD-8ABCFFCE4BBF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22A6A1"/>
          </a:solidFill>
          <a:ln w="12700">
            <a:solidFill>
              <a:srgbClr val="22A6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261736B-278A-35D4-3D3E-A691737C47B9}"/>
              </a:ext>
            </a:extLst>
          </p:cNvPr>
          <p:cNvSpPr txBox="1"/>
          <p:nvPr/>
        </p:nvSpPr>
        <p:spPr>
          <a:xfrm>
            <a:off x="685800" y="355600"/>
            <a:ext cx="914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2500" b="1">
                <a:solidFill>
                  <a:srgbClr val="1732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答辩依据：</a:t>
            </a:r>
            <a:r>
              <a:rPr lang="en-US" altLang="zh-CN" sz="2500" b="1">
                <a:solidFill>
                  <a:srgbClr val="1732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focimeter.cpp </a:t>
            </a:r>
            <a:r>
              <a:rPr lang="zh-CN" altLang="en-US" sz="2500" b="1">
                <a:solidFill>
                  <a:srgbClr val="1732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负责把四个模块串成完整实验流程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AF8FD10-3484-0A9D-C5B0-B7E070B9E01A}"/>
              </a:ext>
            </a:extLst>
          </p:cNvPr>
          <p:cNvSpPr txBox="1"/>
          <p:nvPr/>
        </p:nvSpPr>
        <p:spPr>
          <a:xfrm>
            <a:off x="9652000" y="406400"/>
            <a:ext cx="1841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zh-CN" altLang="en-US" sz="1000">
                <a:solidFill>
                  <a:srgbClr val="5E6F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焦度计项目  </a:t>
            </a:r>
            <a:r>
              <a:rPr lang="en-US" altLang="zh-CN" sz="1000">
                <a:solidFill>
                  <a:srgbClr val="5E6F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|  05</a:t>
            </a:r>
            <a:endParaRPr lang="zh-CN" altLang="en-US" sz="1000">
              <a:solidFill>
                <a:srgbClr val="5E6F7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20847821-D910-4F18-49AE-8A8A5517E890}"/>
              </a:ext>
            </a:extLst>
          </p:cNvPr>
          <p:cNvCxnSpPr/>
          <p:nvPr/>
        </p:nvCxnSpPr>
        <p:spPr>
          <a:xfrm>
            <a:off x="685800" y="965200"/>
            <a:ext cx="10820400" cy="0"/>
          </a:xfrm>
          <a:prstGeom prst="line">
            <a:avLst/>
          </a:prstGeom>
          <a:ln w="12700">
            <a:solidFill>
              <a:srgbClr val="D2DC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E547638A-91E4-B453-6C56-526461816D26}"/>
              </a:ext>
            </a:extLst>
          </p:cNvPr>
          <p:cNvSpPr txBox="1"/>
          <p:nvPr/>
        </p:nvSpPr>
        <p:spPr>
          <a:xfrm>
            <a:off x="685800" y="13081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b="1">
                <a:solidFill>
                  <a:srgbClr val="1732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它不是最终产品界面，而是用于证明“从图像到度数”可以走通的总控程序。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4100C5E3-1ECE-226E-0D6C-E42F94EAEDFF}"/>
              </a:ext>
            </a:extLst>
          </p:cNvPr>
          <p:cNvSpPr/>
          <p:nvPr/>
        </p:nvSpPr>
        <p:spPr>
          <a:xfrm>
            <a:off x="4699000" y="1968500"/>
            <a:ext cx="2794000" cy="1066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F413F7B-9131-1B08-20DA-3ADA1CAB2218}"/>
              </a:ext>
            </a:extLst>
          </p:cNvPr>
          <p:cNvSpPr/>
          <p:nvPr/>
        </p:nvSpPr>
        <p:spPr>
          <a:xfrm>
            <a:off x="4699000" y="1968500"/>
            <a:ext cx="88900" cy="10668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3CBE0F9-053B-C999-6B5C-237FC5F1242C}"/>
              </a:ext>
            </a:extLst>
          </p:cNvPr>
          <p:cNvSpPr txBox="1"/>
          <p:nvPr/>
        </p:nvSpPr>
        <p:spPr>
          <a:xfrm>
            <a:off x="4953000" y="2159000"/>
            <a:ext cx="2387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700" b="1">
                <a:solidFill>
                  <a:srgbClr val="1732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focimeter.cpp</a:t>
            </a:r>
            <a:endParaRPr lang="zh-CN" altLang="en-US" sz="1700" b="1">
              <a:solidFill>
                <a:srgbClr val="17324D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76044FE-1B1F-638C-2F44-76447B889DF3}"/>
              </a:ext>
            </a:extLst>
          </p:cNvPr>
          <p:cNvSpPr txBox="1"/>
          <p:nvPr/>
        </p:nvSpPr>
        <p:spPr>
          <a:xfrm>
            <a:off x="4953000" y="2540000"/>
            <a:ext cx="2387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5E6F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总控：组织标定、测量、输出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E6324DD9-6F91-5000-DDC5-94C3B35F9768}"/>
              </a:ext>
            </a:extLst>
          </p:cNvPr>
          <p:cNvSpPr/>
          <p:nvPr/>
        </p:nvSpPr>
        <p:spPr>
          <a:xfrm>
            <a:off x="863600" y="3492500"/>
            <a:ext cx="2921000" cy="1066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51FD4C3-4CDD-2ACF-2AE2-7B1A095FB0AC}"/>
              </a:ext>
            </a:extLst>
          </p:cNvPr>
          <p:cNvSpPr/>
          <p:nvPr/>
        </p:nvSpPr>
        <p:spPr>
          <a:xfrm>
            <a:off x="863600" y="3492500"/>
            <a:ext cx="88900" cy="1066800"/>
          </a:xfrm>
          <a:prstGeom prst="rect">
            <a:avLst/>
          </a:prstGeom>
          <a:solidFill>
            <a:srgbClr val="3D7EB8"/>
          </a:solidFill>
          <a:ln w="12700">
            <a:solidFill>
              <a:srgbClr val="3D7E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CED9847-7213-720E-47E1-FBE1ABD2D7AB}"/>
              </a:ext>
            </a:extLst>
          </p:cNvPr>
          <p:cNvSpPr txBox="1"/>
          <p:nvPr/>
        </p:nvSpPr>
        <p:spPr>
          <a:xfrm>
            <a:off x="1117600" y="3683000"/>
            <a:ext cx="2514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700" b="1">
                <a:solidFill>
                  <a:srgbClr val="1732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ImProcessor</a:t>
            </a:r>
            <a:endParaRPr lang="zh-CN" altLang="en-US" sz="1700" b="1">
              <a:solidFill>
                <a:srgbClr val="17324D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D5766D8-2C0C-F0B2-B9B5-65F8BDE4231D}"/>
              </a:ext>
            </a:extLst>
          </p:cNvPr>
          <p:cNvSpPr txBox="1"/>
          <p:nvPr/>
        </p:nvSpPr>
        <p:spPr>
          <a:xfrm>
            <a:off x="1117600" y="4064000"/>
            <a:ext cx="2514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5E6F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图片 → 五个光斑质心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920C2ECB-2009-190D-4A2B-CB21A63D7D6A}"/>
              </a:ext>
            </a:extLst>
          </p:cNvPr>
          <p:cNvSpPr/>
          <p:nvPr/>
        </p:nvSpPr>
        <p:spPr>
          <a:xfrm>
            <a:off x="4635500" y="3492500"/>
            <a:ext cx="2921000" cy="1066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6D1B099-6203-6B79-FBDF-18C53486014F}"/>
              </a:ext>
            </a:extLst>
          </p:cNvPr>
          <p:cNvSpPr/>
          <p:nvPr/>
        </p:nvSpPr>
        <p:spPr>
          <a:xfrm>
            <a:off x="4635500" y="3492500"/>
            <a:ext cx="88900" cy="1066800"/>
          </a:xfrm>
          <a:prstGeom prst="rect">
            <a:avLst/>
          </a:prstGeom>
          <a:solidFill>
            <a:srgbClr val="22A6A1"/>
          </a:solidFill>
          <a:ln w="12700">
            <a:solidFill>
              <a:srgbClr val="22A6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6C6AEFC-31F9-0A99-E8D1-6B4D080EAC4E}"/>
              </a:ext>
            </a:extLst>
          </p:cNvPr>
          <p:cNvSpPr txBox="1"/>
          <p:nvPr/>
        </p:nvSpPr>
        <p:spPr>
          <a:xfrm>
            <a:off x="4889500" y="3683000"/>
            <a:ext cx="2514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700" b="1">
                <a:solidFill>
                  <a:srgbClr val="1732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CoordSystem</a:t>
            </a:r>
            <a:endParaRPr lang="zh-CN" altLang="en-US" sz="1700" b="1">
              <a:solidFill>
                <a:srgbClr val="17324D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AAEA317-B0A3-BBC0-05D1-BE6A82FF1AEE}"/>
              </a:ext>
            </a:extLst>
          </p:cNvPr>
          <p:cNvSpPr txBox="1"/>
          <p:nvPr/>
        </p:nvSpPr>
        <p:spPr>
          <a:xfrm>
            <a:off x="4889500" y="4064000"/>
            <a:ext cx="2514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5E6F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质心 → 标定坐标系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085DC344-A255-912F-3B39-A3FD561253CF}"/>
              </a:ext>
            </a:extLst>
          </p:cNvPr>
          <p:cNvSpPr/>
          <p:nvPr/>
        </p:nvSpPr>
        <p:spPr>
          <a:xfrm>
            <a:off x="8407400" y="3492500"/>
            <a:ext cx="2921000" cy="1066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788E4E7-5C6E-C69C-B70E-59E565CAC76F}"/>
              </a:ext>
            </a:extLst>
          </p:cNvPr>
          <p:cNvSpPr/>
          <p:nvPr/>
        </p:nvSpPr>
        <p:spPr>
          <a:xfrm>
            <a:off x="8407400" y="3492500"/>
            <a:ext cx="88900" cy="1066800"/>
          </a:xfrm>
          <a:prstGeom prst="rect">
            <a:avLst/>
          </a:prstGeom>
          <a:solidFill>
            <a:srgbClr val="E07A3F"/>
          </a:solidFill>
          <a:ln w="12700">
            <a:solidFill>
              <a:srgbClr val="E07A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3342AD2-32DB-40F9-7FC5-03834263877D}"/>
              </a:ext>
            </a:extLst>
          </p:cNvPr>
          <p:cNvSpPr txBox="1"/>
          <p:nvPr/>
        </p:nvSpPr>
        <p:spPr>
          <a:xfrm>
            <a:off x="8661400" y="3683000"/>
            <a:ext cx="2514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700" b="1">
                <a:solidFill>
                  <a:srgbClr val="1732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foci</a:t>
            </a:r>
            <a:endParaRPr lang="zh-CN" altLang="en-US" sz="1700" b="1">
              <a:solidFill>
                <a:srgbClr val="17324D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AB066B8-194D-98AF-1F22-003765003A0A}"/>
              </a:ext>
            </a:extLst>
          </p:cNvPr>
          <p:cNvSpPr txBox="1"/>
          <p:nvPr/>
        </p:nvSpPr>
        <p:spPr>
          <a:xfrm>
            <a:off x="8661400" y="4064000"/>
            <a:ext cx="2514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5E6F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坐标 → 镜片参数</a:t>
            </a: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66630047-B01B-5F52-C034-2E592EDCD3CC}"/>
              </a:ext>
            </a:extLst>
          </p:cNvPr>
          <p:cNvCxnSpPr/>
          <p:nvPr/>
        </p:nvCxnSpPr>
        <p:spPr>
          <a:xfrm flipH="1">
            <a:off x="2324100" y="3035300"/>
            <a:ext cx="3771900" cy="457200"/>
          </a:xfrm>
          <a:prstGeom prst="line">
            <a:avLst/>
          </a:prstGeom>
          <a:ln w="19050">
            <a:solidFill>
              <a:srgbClr val="5E6F7E"/>
            </a:solidFill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5DDFD3CC-A573-2E2F-9FB9-BAEE978BE946}"/>
              </a:ext>
            </a:extLst>
          </p:cNvPr>
          <p:cNvCxnSpPr/>
          <p:nvPr/>
        </p:nvCxnSpPr>
        <p:spPr>
          <a:xfrm>
            <a:off x="6096000" y="3035300"/>
            <a:ext cx="0" cy="457200"/>
          </a:xfrm>
          <a:prstGeom prst="line">
            <a:avLst/>
          </a:prstGeom>
          <a:ln w="19050">
            <a:solidFill>
              <a:srgbClr val="5E6F7E"/>
            </a:solidFill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757DC104-0E4A-9BAC-A7CB-6CA951DC744C}"/>
              </a:ext>
            </a:extLst>
          </p:cNvPr>
          <p:cNvCxnSpPr/>
          <p:nvPr/>
        </p:nvCxnSpPr>
        <p:spPr>
          <a:xfrm>
            <a:off x="6096000" y="3035300"/>
            <a:ext cx="3771900" cy="457200"/>
          </a:xfrm>
          <a:prstGeom prst="line">
            <a:avLst/>
          </a:prstGeom>
          <a:ln w="19050">
            <a:solidFill>
              <a:srgbClr val="5E6F7E"/>
            </a:solidFill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AA6FEBEE-580C-4E06-662E-49324B191741}"/>
              </a:ext>
            </a:extLst>
          </p:cNvPr>
          <p:cNvSpPr/>
          <p:nvPr/>
        </p:nvSpPr>
        <p:spPr>
          <a:xfrm>
            <a:off x="863600" y="5080000"/>
            <a:ext cx="105410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5EDFC6B-A199-5B83-2260-1D4C4764EEF0}"/>
              </a:ext>
            </a:extLst>
          </p:cNvPr>
          <p:cNvSpPr txBox="1"/>
          <p:nvPr/>
        </p:nvSpPr>
        <p:spPr>
          <a:xfrm>
            <a:off x="1193800" y="5384800"/>
            <a:ext cx="215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600" b="1">
                <a:solidFill>
                  <a:srgbClr val="1732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程序实际执行顺序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7E804DBA-EE33-4D36-63C1-3C8057E2CB21}"/>
              </a:ext>
            </a:extLst>
          </p:cNvPr>
          <p:cNvSpPr txBox="1"/>
          <p:nvPr/>
        </p:nvSpPr>
        <p:spPr>
          <a:xfrm>
            <a:off x="3810000" y="5308600"/>
            <a:ext cx="292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300">
                <a:solidFill>
                  <a:srgbClr val="2430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 </a:t>
            </a:r>
            <a:r>
              <a:rPr lang="zh-CN" altLang="en-US" sz="1300">
                <a:solidFill>
                  <a:srgbClr val="2430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读取标定图</a:t>
            </a:r>
          </a:p>
          <a:p>
            <a:r>
              <a:rPr lang="en-US" altLang="zh-CN" sz="1300">
                <a:solidFill>
                  <a:srgbClr val="2430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 </a:t>
            </a:r>
            <a:r>
              <a:rPr lang="zh-CN" altLang="en-US" sz="1300">
                <a:solidFill>
                  <a:srgbClr val="2430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识别五个标记点</a:t>
            </a:r>
          </a:p>
          <a:p>
            <a:r>
              <a:rPr lang="en-US" altLang="zh-CN" sz="1300">
                <a:solidFill>
                  <a:srgbClr val="2430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 </a:t>
            </a:r>
            <a:r>
              <a:rPr lang="zh-CN" altLang="en-US" sz="1300">
                <a:solidFill>
                  <a:srgbClr val="2430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建立旋转坐标系</a:t>
            </a:r>
          </a:p>
          <a:p>
            <a:r>
              <a:rPr lang="en-US" altLang="zh-CN" sz="1300">
                <a:solidFill>
                  <a:srgbClr val="2430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 </a:t>
            </a:r>
            <a:r>
              <a:rPr lang="zh-CN" altLang="en-US" sz="1300">
                <a:solidFill>
                  <a:srgbClr val="2430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读取测量图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D0BB27E-A3BB-3325-7BCE-935D91643410}"/>
              </a:ext>
            </a:extLst>
          </p:cNvPr>
          <p:cNvSpPr txBox="1"/>
          <p:nvPr/>
        </p:nvSpPr>
        <p:spPr>
          <a:xfrm>
            <a:off x="7239000" y="5308600"/>
            <a:ext cx="292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300">
                <a:solidFill>
                  <a:srgbClr val="2430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 </a:t>
            </a:r>
            <a:r>
              <a:rPr lang="zh-CN" altLang="en-US" sz="1300">
                <a:solidFill>
                  <a:srgbClr val="2430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转换光斑坐标</a:t>
            </a:r>
          </a:p>
          <a:p>
            <a:r>
              <a:rPr lang="en-US" altLang="zh-CN" sz="1300">
                <a:solidFill>
                  <a:srgbClr val="2430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 </a:t>
            </a:r>
            <a:r>
              <a:rPr lang="zh-CN" altLang="en-US" sz="1300">
                <a:solidFill>
                  <a:srgbClr val="2430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判断球镜 </a:t>
            </a:r>
            <a:r>
              <a:rPr lang="en-US" altLang="zh-CN" sz="1300">
                <a:solidFill>
                  <a:srgbClr val="2430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300">
                <a:solidFill>
                  <a:srgbClr val="2430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柱镜</a:t>
            </a:r>
          </a:p>
          <a:p>
            <a:r>
              <a:rPr lang="en-US" altLang="zh-CN" sz="1300">
                <a:solidFill>
                  <a:srgbClr val="2430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7 </a:t>
            </a:r>
            <a:r>
              <a:rPr lang="zh-CN" altLang="en-US" sz="1300">
                <a:solidFill>
                  <a:srgbClr val="2430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输出 </a:t>
            </a:r>
            <a:r>
              <a:rPr lang="en-US" altLang="zh-CN" sz="1300">
                <a:solidFill>
                  <a:srgbClr val="2430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Fs</a:t>
            </a:r>
            <a:r>
              <a:rPr lang="zh-CN" altLang="en-US" sz="1300">
                <a:solidFill>
                  <a:srgbClr val="2430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300">
                <a:solidFill>
                  <a:srgbClr val="2430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Fc</a:t>
            </a:r>
            <a:r>
              <a:rPr lang="zh-CN" altLang="en-US" sz="1300">
                <a:solidFill>
                  <a:srgbClr val="2430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300">
                <a:solidFill>
                  <a:srgbClr val="2430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θ</a:t>
            </a:r>
            <a:endParaRPr lang="zh-CN" altLang="en-US" sz="1300">
              <a:solidFill>
                <a:srgbClr val="24303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1E8BAE15-CD00-830E-5394-D2A21A15745F}"/>
              </a:ext>
            </a:extLst>
          </p:cNvPr>
          <p:cNvSpPr txBox="1"/>
          <p:nvPr/>
        </p:nvSpPr>
        <p:spPr>
          <a:xfrm>
            <a:off x="863600" y="6477000"/>
            <a:ext cx="1054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00">
                <a:solidFill>
                  <a:srgbClr val="E07A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源码位置：</a:t>
            </a:r>
            <a:r>
              <a:rPr lang="en-US" altLang="zh-CN" sz="1200">
                <a:solidFill>
                  <a:srgbClr val="E07A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focimeter.cpp </a:t>
            </a:r>
            <a:r>
              <a:rPr lang="zh-CN" altLang="en-US" sz="1200">
                <a:solidFill>
                  <a:srgbClr val="E07A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 </a:t>
            </a:r>
            <a:r>
              <a:rPr lang="en-US" altLang="zh-CN" sz="1200">
                <a:solidFill>
                  <a:srgbClr val="E07A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main </a:t>
            </a:r>
            <a:r>
              <a:rPr lang="zh-CN" altLang="en-US" sz="1200">
                <a:solidFill>
                  <a:srgbClr val="E07A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函数；当前输入路径和部分物理参数仍是硬编码。</a:t>
            </a:r>
          </a:p>
        </p:txBody>
      </p:sp>
    </p:spTree>
    <p:extLst>
      <p:ext uri="{BB962C8B-B14F-4D97-AF65-F5344CB8AC3E}">
        <p14:creationId xmlns:p14="http://schemas.microsoft.com/office/powerpoint/2010/main" val="14260480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A68B36B-2EDA-DA8A-5E13-CB35AF994395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22A6A1"/>
          </a:solidFill>
          <a:ln w="12700">
            <a:solidFill>
              <a:srgbClr val="22A6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3CF44DB-2662-A2AE-B87D-55541B3F22DE}"/>
              </a:ext>
            </a:extLst>
          </p:cNvPr>
          <p:cNvSpPr txBox="1"/>
          <p:nvPr/>
        </p:nvSpPr>
        <p:spPr>
          <a:xfrm>
            <a:off x="685800" y="355600"/>
            <a:ext cx="914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2500" b="1">
                <a:solidFill>
                  <a:srgbClr val="1732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图像算法的任务：把复杂背景中的亮斑变成可靠坐标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0130D1D-8949-9F28-A869-375628524249}"/>
              </a:ext>
            </a:extLst>
          </p:cNvPr>
          <p:cNvSpPr txBox="1"/>
          <p:nvPr/>
        </p:nvSpPr>
        <p:spPr>
          <a:xfrm>
            <a:off x="9652000" y="406400"/>
            <a:ext cx="1841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zh-CN" altLang="en-US" sz="1000">
                <a:solidFill>
                  <a:srgbClr val="5E6F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焦度计项目  </a:t>
            </a:r>
            <a:r>
              <a:rPr lang="en-US" altLang="zh-CN" sz="1000">
                <a:solidFill>
                  <a:srgbClr val="5E6F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|  06</a:t>
            </a:r>
            <a:endParaRPr lang="zh-CN" altLang="en-US" sz="1000">
              <a:solidFill>
                <a:srgbClr val="5E6F7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490872A4-410D-99FA-44DF-50C42381A61C}"/>
              </a:ext>
            </a:extLst>
          </p:cNvPr>
          <p:cNvCxnSpPr/>
          <p:nvPr/>
        </p:nvCxnSpPr>
        <p:spPr>
          <a:xfrm>
            <a:off x="685800" y="965200"/>
            <a:ext cx="10820400" cy="0"/>
          </a:xfrm>
          <a:prstGeom prst="line">
            <a:avLst/>
          </a:prstGeom>
          <a:ln w="12700">
            <a:solidFill>
              <a:srgbClr val="D2DC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5856251E-975D-B6A3-C18F-93C9492AFE60}"/>
              </a:ext>
            </a:extLst>
          </p:cNvPr>
          <p:cNvSpPr txBox="1"/>
          <p:nvPr/>
        </p:nvSpPr>
        <p:spPr>
          <a:xfrm>
            <a:off x="685800" y="13081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b="1">
                <a:solidFill>
                  <a:srgbClr val="1732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每一步都服务于同一个目标：降低质心误差，让后面的光学计算有可信输入。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1744CDCC-6779-FFF5-4B91-6FB71871B2C7}"/>
              </a:ext>
            </a:extLst>
          </p:cNvPr>
          <p:cNvSpPr/>
          <p:nvPr/>
        </p:nvSpPr>
        <p:spPr>
          <a:xfrm>
            <a:off x="685800" y="2603500"/>
            <a:ext cx="1422400" cy="226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2BAAAC1-2FC0-748E-1B37-BC013EB75197}"/>
              </a:ext>
            </a:extLst>
          </p:cNvPr>
          <p:cNvSpPr txBox="1"/>
          <p:nvPr/>
        </p:nvSpPr>
        <p:spPr>
          <a:xfrm>
            <a:off x="863600" y="2844800"/>
            <a:ext cx="1041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300" b="1">
                <a:solidFill>
                  <a:srgbClr val="22A6A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01</a:t>
            </a:r>
            <a:endParaRPr lang="zh-CN" altLang="en-US" sz="1300" b="1">
              <a:solidFill>
                <a:srgbClr val="22A6A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84BADC4-2F11-FBDA-C4CE-66DADBE7FFF7}"/>
              </a:ext>
            </a:extLst>
          </p:cNvPr>
          <p:cNvSpPr txBox="1"/>
          <p:nvPr/>
        </p:nvSpPr>
        <p:spPr>
          <a:xfrm>
            <a:off x="863600" y="3263900"/>
            <a:ext cx="1066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600" b="1">
                <a:solidFill>
                  <a:srgbClr val="1732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ROI</a:t>
            </a:r>
            <a:endParaRPr lang="zh-CN" altLang="en-US" sz="1600" b="1">
              <a:solidFill>
                <a:srgbClr val="17324D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691ED61-900F-5183-3F4D-F5D094C8C5E1}"/>
              </a:ext>
            </a:extLst>
          </p:cNvPr>
          <p:cNvSpPr txBox="1"/>
          <p:nvPr/>
        </p:nvSpPr>
        <p:spPr>
          <a:xfrm>
            <a:off x="863600" y="3937000"/>
            <a:ext cx="1066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00">
                <a:solidFill>
                  <a:srgbClr val="5E6F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只保留中心区域</a:t>
            </a: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B386FA55-14B5-B01E-4BEC-B7C80F5111C8}"/>
              </a:ext>
            </a:extLst>
          </p:cNvPr>
          <p:cNvCxnSpPr/>
          <p:nvPr/>
        </p:nvCxnSpPr>
        <p:spPr>
          <a:xfrm>
            <a:off x="2108200" y="3733800"/>
            <a:ext cx="228600" cy="0"/>
          </a:xfrm>
          <a:prstGeom prst="line">
            <a:avLst/>
          </a:prstGeom>
          <a:ln w="19050">
            <a:solidFill>
              <a:srgbClr val="22A6A1"/>
            </a:solidFill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1A742682-7C5B-9E8F-E56F-70F50645EA8C}"/>
              </a:ext>
            </a:extLst>
          </p:cNvPr>
          <p:cNvSpPr/>
          <p:nvPr/>
        </p:nvSpPr>
        <p:spPr>
          <a:xfrm>
            <a:off x="2286000" y="2603500"/>
            <a:ext cx="1422400" cy="226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5E081F7-DC81-818F-50BB-935FA7565AEB}"/>
              </a:ext>
            </a:extLst>
          </p:cNvPr>
          <p:cNvSpPr txBox="1"/>
          <p:nvPr/>
        </p:nvSpPr>
        <p:spPr>
          <a:xfrm>
            <a:off x="2463800" y="2844800"/>
            <a:ext cx="1041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300" b="1">
                <a:solidFill>
                  <a:srgbClr val="22A6A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02</a:t>
            </a:r>
            <a:endParaRPr lang="zh-CN" altLang="en-US" sz="1300" b="1">
              <a:solidFill>
                <a:srgbClr val="22A6A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5728768-0462-F4A7-4DE3-1D4BC1C556C9}"/>
              </a:ext>
            </a:extLst>
          </p:cNvPr>
          <p:cNvSpPr txBox="1"/>
          <p:nvPr/>
        </p:nvSpPr>
        <p:spPr>
          <a:xfrm>
            <a:off x="2463800" y="3263900"/>
            <a:ext cx="1066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600" b="1">
                <a:solidFill>
                  <a:srgbClr val="1732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灰度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1739844-AF30-FA39-8C44-2BDBC4C50053}"/>
              </a:ext>
            </a:extLst>
          </p:cNvPr>
          <p:cNvSpPr txBox="1"/>
          <p:nvPr/>
        </p:nvSpPr>
        <p:spPr>
          <a:xfrm>
            <a:off x="2463800" y="3937000"/>
            <a:ext cx="1066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00">
                <a:solidFill>
                  <a:srgbClr val="5E6F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统一图像表达</a:t>
            </a:r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A882534A-BF46-4425-6820-831416A1C8E1}"/>
              </a:ext>
            </a:extLst>
          </p:cNvPr>
          <p:cNvCxnSpPr/>
          <p:nvPr/>
        </p:nvCxnSpPr>
        <p:spPr>
          <a:xfrm>
            <a:off x="3708400" y="3733800"/>
            <a:ext cx="228600" cy="0"/>
          </a:xfrm>
          <a:prstGeom prst="line">
            <a:avLst/>
          </a:prstGeom>
          <a:ln w="19050">
            <a:solidFill>
              <a:srgbClr val="22A6A1"/>
            </a:solidFill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078F1D39-4D5B-474B-B2FB-DC5C2F0F20EA}"/>
              </a:ext>
            </a:extLst>
          </p:cNvPr>
          <p:cNvSpPr/>
          <p:nvPr/>
        </p:nvSpPr>
        <p:spPr>
          <a:xfrm>
            <a:off x="3886200" y="2603500"/>
            <a:ext cx="1422400" cy="226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F928E20-F87D-33E8-5006-29D3A83B79D7}"/>
              </a:ext>
            </a:extLst>
          </p:cNvPr>
          <p:cNvSpPr txBox="1"/>
          <p:nvPr/>
        </p:nvSpPr>
        <p:spPr>
          <a:xfrm>
            <a:off x="4064000" y="2844800"/>
            <a:ext cx="1041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300" b="1">
                <a:solidFill>
                  <a:srgbClr val="22A6A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</a:t>
            </a:r>
            <a:endParaRPr lang="zh-CN" altLang="en-US" sz="1300" b="1">
              <a:solidFill>
                <a:srgbClr val="22A6A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A147A7F-0A4A-4E1D-DAAF-5A687A87B5A5}"/>
              </a:ext>
            </a:extLst>
          </p:cNvPr>
          <p:cNvSpPr txBox="1"/>
          <p:nvPr/>
        </p:nvSpPr>
        <p:spPr>
          <a:xfrm>
            <a:off x="4064000" y="3263900"/>
            <a:ext cx="1066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600" b="1">
                <a:solidFill>
                  <a:srgbClr val="1732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中值滤波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81D3EFE-6ECF-369A-5770-7C1165459D57}"/>
              </a:ext>
            </a:extLst>
          </p:cNvPr>
          <p:cNvSpPr txBox="1"/>
          <p:nvPr/>
        </p:nvSpPr>
        <p:spPr>
          <a:xfrm>
            <a:off x="4064000" y="3937000"/>
            <a:ext cx="1066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00">
                <a:solidFill>
                  <a:srgbClr val="5E6F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抑制噪声</a:t>
            </a: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9FC4892C-BC10-FCCC-6706-26B5F1BA09E7}"/>
              </a:ext>
            </a:extLst>
          </p:cNvPr>
          <p:cNvCxnSpPr/>
          <p:nvPr/>
        </p:nvCxnSpPr>
        <p:spPr>
          <a:xfrm>
            <a:off x="5308600" y="3733800"/>
            <a:ext cx="228600" cy="0"/>
          </a:xfrm>
          <a:prstGeom prst="line">
            <a:avLst/>
          </a:prstGeom>
          <a:ln w="19050">
            <a:solidFill>
              <a:srgbClr val="22A6A1"/>
            </a:solidFill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810C6487-DC08-DF3E-674E-D20A8694D434}"/>
              </a:ext>
            </a:extLst>
          </p:cNvPr>
          <p:cNvSpPr/>
          <p:nvPr/>
        </p:nvSpPr>
        <p:spPr>
          <a:xfrm>
            <a:off x="5486400" y="2603500"/>
            <a:ext cx="1422400" cy="226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AE24E98-B16F-E131-57B3-CB9AF113A885}"/>
              </a:ext>
            </a:extLst>
          </p:cNvPr>
          <p:cNvSpPr txBox="1"/>
          <p:nvPr/>
        </p:nvSpPr>
        <p:spPr>
          <a:xfrm>
            <a:off x="5664200" y="2844800"/>
            <a:ext cx="1041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300" b="1">
                <a:solidFill>
                  <a:srgbClr val="22A6A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04</a:t>
            </a:r>
            <a:endParaRPr lang="zh-CN" altLang="en-US" sz="1300" b="1">
              <a:solidFill>
                <a:srgbClr val="22A6A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8CF63D1-6D9D-9736-1809-A962D5B0CBF1}"/>
              </a:ext>
            </a:extLst>
          </p:cNvPr>
          <p:cNvSpPr txBox="1"/>
          <p:nvPr/>
        </p:nvSpPr>
        <p:spPr>
          <a:xfrm>
            <a:off x="5664200" y="3263900"/>
            <a:ext cx="1066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600" b="1">
                <a:solidFill>
                  <a:srgbClr val="1732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顶帽运算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56136DAE-83AC-4CF6-3B51-E274C436C9D1}"/>
              </a:ext>
            </a:extLst>
          </p:cNvPr>
          <p:cNvSpPr txBox="1"/>
          <p:nvPr/>
        </p:nvSpPr>
        <p:spPr>
          <a:xfrm>
            <a:off x="5664200" y="3937000"/>
            <a:ext cx="1066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00">
                <a:solidFill>
                  <a:srgbClr val="5E6F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增强小亮斑</a:t>
            </a: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E70E2E70-7320-4066-77E3-C563F2727288}"/>
              </a:ext>
            </a:extLst>
          </p:cNvPr>
          <p:cNvCxnSpPr/>
          <p:nvPr/>
        </p:nvCxnSpPr>
        <p:spPr>
          <a:xfrm>
            <a:off x="6908800" y="3733800"/>
            <a:ext cx="228600" cy="0"/>
          </a:xfrm>
          <a:prstGeom prst="line">
            <a:avLst/>
          </a:prstGeom>
          <a:ln w="19050">
            <a:solidFill>
              <a:srgbClr val="22A6A1"/>
            </a:solidFill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8FE01775-53F2-42FD-A24C-898D9E6029B0}"/>
              </a:ext>
            </a:extLst>
          </p:cNvPr>
          <p:cNvSpPr/>
          <p:nvPr/>
        </p:nvSpPr>
        <p:spPr>
          <a:xfrm>
            <a:off x="7086600" y="2603500"/>
            <a:ext cx="1422400" cy="226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15D2FF39-B96C-70B6-C812-9A7931C7E203}"/>
              </a:ext>
            </a:extLst>
          </p:cNvPr>
          <p:cNvSpPr txBox="1"/>
          <p:nvPr/>
        </p:nvSpPr>
        <p:spPr>
          <a:xfrm>
            <a:off x="7264400" y="2844800"/>
            <a:ext cx="1041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300" b="1">
                <a:solidFill>
                  <a:srgbClr val="22A6A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05</a:t>
            </a:r>
            <a:endParaRPr lang="zh-CN" altLang="en-US" sz="1300" b="1">
              <a:solidFill>
                <a:srgbClr val="22A6A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D665E99-DA77-F658-D53E-D12122B6FCC4}"/>
              </a:ext>
            </a:extLst>
          </p:cNvPr>
          <p:cNvSpPr txBox="1"/>
          <p:nvPr/>
        </p:nvSpPr>
        <p:spPr>
          <a:xfrm>
            <a:off x="7264400" y="3263900"/>
            <a:ext cx="1066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600" b="1">
                <a:solidFill>
                  <a:srgbClr val="1732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自适应 </a:t>
            </a:r>
            <a:r>
              <a:rPr lang="en-US" altLang="zh-CN" sz="1600" b="1">
                <a:solidFill>
                  <a:srgbClr val="1732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Otsu</a:t>
            </a:r>
            <a:endParaRPr lang="zh-CN" altLang="en-US" sz="1600" b="1">
              <a:solidFill>
                <a:srgbClr val="17324D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BD194383-518A-4CF0-26D8-5756B3AD2406}"/>
              </a:ext>
            </a:extLst>
          </p:cNvPr>
          <p:cNvSpPr txBox="1"/>
          <p:nvPr/>
        </p:nvSpPr>
        <p:spPr>
          <a:xfrm>
            <a:off x="7264400" y="3937000"/>
            <a:ext cx="1066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00">
                <a:solidFill>
                  <a:srgbClr val="5E6F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应对光照不均</a:t>
            </a:r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A3D75DFF-9B0F-AE25-BD5C-BF855C5D71D8}"/>
              </a:ext>
            </a:extLst>
          </p:cNvPr>
          <p:cNvCxnSpPr/>
          <p:nvPr/>
        </p:nvCxnSpPr>
        <p:spPr>
          <a:xfrm>
            <a:off x="8509000" y="3733800"/>
            <a:ext cx="228600" cy="0"/>
          </a:xfrm>
          <a:prstGeom prst="line">
            <a:avLst/>
          </a:prstGeom>
          <a:ln w="19050">
            <a:solidFill>
              <a:srgbClr val="22A6A1"/>
            </a:solidFill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3F2383C8-DABE-F2CF-AA20-2D43497728D7}"/>
              </a:ext>
            </a:extLst>
          </p:cNvPr>
          <p:cNvSpPr/>
          <p:nvPr/>
        </p:nvSpPr>
        <p:spPr>
          <a:xfrm>
            <a:off x="8686800" y="2603500"/>
            <a:ext cx="1422400" cy="226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EEEEA2BF-AA71-FEAD-AF19-5E42731FD0C3}"/>
              </a:ext>
            </a:extLst>
          </p:cNvPr>
          <p:cNvSpPr txBox="1"/>
          <p:nvPr/>
        </p:nvSpPr>
        <p:spPr>
          <a:xfrm>
            <a:off x="8864600" y="2844800"/>
            <a:ext cx="1041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300" b="1">
                <a:solidFill>
                  <a:srgbClr val="22A6A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06</a:t>
            </a:r>
            <a:endParaRPr lang="zh-CN" altLang="en-US" sz="1300" b="1">
              <a:solidFill>
                <a:srgbClr val="22A6A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3A9EC44C-14BB-22AC-AA4C-A30DE7BC4DE8}"/>
              </a:ext>
            </a:extLst>
          </p:cNvPr>
          <p:cNvSpPr txBox="1"/>
          <p:nvPr/>
        </p:nvSpPr>
        <p:spPr>
          <a:xfrm>
            <a:off x="8864600" y="3263900"/>
            <a:ext cx="1066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600" b="1">
                <a:solidFill>
                  <a:srgbClr val="1732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连通域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746D364C-1B7D-386A-685C-91B51964984C}"/>
              </a:ext>
            </a:extLst>
          </p:cNvPr>
          <p:cNvSpPr txBox="1"/>
          <p:nvPr/>
        </p:nvSpPr>
        <p:spPr>
          <a:xfrm>
            <a:off x="8864600" y="3937000"/>
            <a:ext cx="1066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00">
                <a:solidFill>
                  <a:srgbClr val="5E6F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筛选五个区域</a:t>
            </a:r>
          </a:p>
        </p:txBody>
      </p: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06E2A0FF-A03D-7379-DAE3-4E831786BDAD}"/>
              </a:ext>
            </a:extLst>
          </p:cNvPr>
          <p:cNvCxnSpPr/>
          <p:nvPr/>
        </p:nvCxnSpPr>
        <p:spPr>
          <a:xfrm>
            <a:off x="10109200" y="3733800"/>
            <a:ext cx="228600" cy="0"/>
          </a:xfrm>
          <a:prstGeom prst="line">
            <a:avLst/>
          </a:prstGeom>
          <a:ln w="19050">
            <a:solidFill>
              <a:srgbClr val="22A6A1"/>
            </a:solidFill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45FD5EA9-C7AC-13DB-6E42-1D6AB13D7EDD}"/>
              </a:ext>
            </a:extLst>
          </p:cNvPr>
          <p:cNvSpPr/>
          <p:nvPr/>
        </p:nvSpPr>
        <p:spPr>
          <a:xfrm>
            <a:off x="10287000" y="2603500"/>
            <a:ext cx="1422400" cy="226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2012ED3B-23FA-6089-3FCD-5DAB03FF6182}"/>
              </a:ext>
            </a:extLst>
          </p:cNvPr>
          <p:cNvSpPr txBox="1"/>
          <p:nvPr/>
        </p:nvSpPr>
        <p:spPr>
          <a:xfrm>
            <a:off x="10464800" y="2844800"/>
            <a:ext cx="1041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300" b="1">
                <a:solidFill>
                  <a:srgbClr val="22A6A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07</a:t>
            </a:r>
            <a:endParaRPr lang="zh-CN" altLang="en-US" sz="1300" b="1">
              <a:solidFill>
                <a:srgbClr val="22A6A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6C50DF1C-1DE7-7A58-C895-8C065C97D18B}"/>
              </a:ext>
            </a:extLst>
          </p:cNvPr>
          <p:cNvSpPr txBox="1"/>
          <p:nvPr/>
        </p:nvSpPr>
        <p:spPr>
          <a:xfrm>
            <a:off x="10464800" y="3263900"/>
            <a:ext cx="1066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600" b="1">
                <a:solidFill>
                  <a:srgbClr val="1732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质心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64A0A131-0C02-936D-26F5-5A71037D1B7F}"/>
              </a:ext>
            </a:extLst>
          </p:cNvPr>
          <p:cNvSpPr txBox="1"/>
          <p:nvPr/>
        </p:nvSpPr>
        <p:spPr>
          <a:xfrm>
            <a:off x="10464800" y="3937000"/>
            <a:ext cx="1066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00">
                <a:solidFill>
                  <a:srgbClr val="5E6F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得到光斑坐标</a:t>
            </a: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D8CA180A-324E-193D-4B45-7BF56C378EB2}"/>
              </a:ext>
            </a:extLst>
          </p:cNvPr>
          <p:cNvSpPr/>
          <p:nvPr/>
        </p:nvSpPr>
        <p:spPr>
          <a:xfrm>
            <a:off x="685800" y="5334000"/>
            <a:ext cx="10820400" cy="1117600"/>
          </a:xfrm>
          <a:prstGeom prst="roundRect">
            <a:avLst/>
          </a:prstGeom>
          <a:solidFill>
            <a:srgbClr val="E8F1FA"/>
          </a:solidFill>
          <a:ln w="12700">
            <a:solidFill>
              <a:srgbClr val="E8F1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219985C7-98ED-1876-6F26-1565212F0781}"/>
              </a:ext>
            </a:extLst>
          </p:cNvPr>
          <p:cNvSpPr txBox="1"/>
          <p:nvPr/>
        </p:nvSpPr>
        <p:spPr>
          <a:xfrm>
            <a:off x="990600" y="5626100"/>
            <a:ext cx="317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500" b="1">
                <a:solidFill>
                  <a:srgbClr val="1732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为什么不直接找最亮像素？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72EEE9E5-E5DB-CF6C-480C-FC7190C86CE5}"/>
              </a:ext>
            </a:extLst>
          </p:cNvPr>
          <p:cNvSpPr txBox="1"/>
          <p:nvPr/>
        </p:nvSpPr>
        <p:spPr>
          <a:xfrm>
            <a:off x="4292600" y="5549900"/>
            <a:ext cx="673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400">
                <a:solidFill>
                  <a:srgbClr val="2430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真实图像存在背景不均、噪声、光斑大小变化和局部粘连。程序先做增强与分割，再通过区域质心获得更稳定的位置。</a:t>
            </a:r>
          </a:p>
        </p:txBody>
      </p:sp>
    </p:spTree>
    <p:extLst>
      <p:ext uri="{BB962C8B-B14F-4D97-AF65-F5344CB8AC3E}">
        <p14:creationId xmlns:p14="http://schemas.microsoft.com/office/powerpoint/2010/main" val="38852442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78BC8CF-53B2-0301-E162-3C1E01C5D577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22A6A1"/>
          </a:solidFill>
          <a:ln w="12700">
            <a:solidFill>
              <a:srgbClr val="22A6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F107439-C1CB-AD1A-2046-D8D9C7686EAB}"/>
              </a:ext>
            </a:extLst>
          </p:cNvPr>
          <p:cNvSpPr txBox="1"/>
          <p:nvPr/>
        </p:nvSpPr>
        <p:spPr>
          <a:xfrm>
            <a:off x="685800" y="355600"/>
            <a:ext cx="914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2500" b="1">
                <a:solidFill>
                  <a:srgbClr val="1732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坐标标定：让测量结果不依赖相机和光路的旋转方向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A6E4CFF-5F49-07A6-9A53-319FE4797BFA}"/>
              </a:ext>
            </a:extLst>
          </p:cNvPr>
          <p:cNvSpPr txBox="1"/>
          <p:nvPr/>
        </p:nvSpPr>
        <p:spPr>
          <a:xfrm>
            <a:off x="9652000" y="406400"/>
            <a:ext cx="1841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zh-CN" altLang="en-US" sz="1000">
                <a:solidFill>
                  <a:srgbClr val="5E6F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焦度计项目  </a:t>
            </a:r>
            <a:r>
              <a:rPr lang="en-US" altLang="zh-CN" sz="1000">
                <a:solidFill>
                  <a:srgbClr val="5E6F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|  07</a:t>
            </a:r>
            <a:endParaRPr lang="zh-CN" altLang="en-US" sz="1000">
              <a:solidFill>
                <a:srgbClr val="5E6F7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9D08E053-33B2-8F6C-E6F5-9CD2FE751F24}"/>
              </a:ext>
            </a:extLst>
          </p:cNvPr>
          <p:cNvCxnSpPr/>
          <p:nvPr/>
        </p:nvCxnSpPr>
        <p:spPr>
          <a:xfrm>
            <a:off x="685800" y="965200"/>
            <a:ext cx="10820400" cy="0"/>
          </a:xfrm>
          <a:prstGeom prst="line">
            <a:avLst/>
          </a:prstGeom>
          <a:ln w="12700">
            <a:solidFill>
              <a:srgbClr val="D2DC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A259BC2E-81C6-A209-CC86-8A429512DFED}"/>
              </a:ext>
            </a:extLst>
          </p:cNvPr>
          <p:cNvSpPr txBox="1"/>
          <p:nvPr/>
        </p:nvSpPr>
        <p:spPr>
          <a:xfrm>
            <a:off x="685800" y="13081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b="1">
                <a:solidFill>
                  <a:srgbClr val="1732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五个光斑的几何关系提供了一个局部坐标系。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B664FF94-9557-E42B-5FC2-1EA926F3AE78}"/>
              </a:ext>
            </a:extLst>
          </p:cNvPr>
          <p:cNvSpPr/>
          <p:nvPr/>
        </p:nvSpPr>
        <p:spPr>
          <a:xfrm>
            <a:off x="889000" y="2260600"/>
            <a:ext cx="4318000" cy="4191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AFC34CA0-B559-0171-78C9-C8A555BD6646}"/>
              </a:ext>
            </a:extLst>
          </p:cNvPr>
          <p:cNvCxnSpPr/>
          <p:nvPr/>
        </p:nvCxnSpPr>
        <p:spPr>
          <a:xfrm>
            <a:off x="3048000" y="4292600"/>
            <a:ext cx="1397000" cy="0"/>
          </a:xfrm>
          <a:prstGeom prst="line">
            <a:avLst/>
          </a:prstGeom>
          <a:ln w="25400">
            <a:solidFill>
              <a:srgbClr val="3D7EB8"/>
            </a:solidFill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DE7EC66C-8F93-CD69-72A6-76A6BF6574F8}"/>
              </a:ext>
            </a:extLst>
          </p:cNvPr>
          <p:cNvCxnSpPr/>
          <p:nvPr/>
        </p:nvCxnSpPr>
        <p:spPr>
          <a:xfrm flipV="1">
            <a:off x="3048000" y="2794000"/>
            <a:ext cx="0" cy="1498600"/>
          </a:xfrm>
          <a:prstGeom prst="line">
            <a:avLst/>
          </a:prstGeom>
          <a:ln w="25400">
            <a:solidFill>
              <a:srgbClr val="22A6A1"/>
            </a:solidFill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椭圆 9">
            <a:extLst>
              <a:ext uri="{FF2B5EF4-FFF2-40B4-BE49-F238E27FC236}">
                <a16:creationId xmlns:a16="http://schemas.microsoft.com/office/drawing/2014/main" id="{BB97FB95-4D0A-1C82-2571-F9404102817C}"/>
              </a:ext>
            </a:extLst>
          </p:cNvPr>
          <p:cNvSpPr/>
          <p:nvPr/>
        </p:nvSpPr>
        <p:spPr>
          <a:xfrm>
            <a:off x="2933700" y="4178300"/>
            <a:ext cx="228600" cy="228600"/>
          </a:xfrm>
          <a:prstGeom prst="ellipse">
            <a:avLst/>
          </a:prstGeom>
          <a:solidFill>
            <a:srgbClr val="17324D"/>
          </a:solidFill>
          <a:ln w="12700">
            <a:solidFill>
              <a:srgbClr val="1732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E7275895-F9D9-589F-3AEC-9FBD71A83D48}"/>
              </a:ext>
            </a:extLst>
          </p:cNvPr>
          <p:cNvSpPr/>
          <p:nvPr/>
        </p:nvSpPr>
        <p:spPr>
          <a:xfrm>
            <a:off x="2933700" y="3035300"/>
            <a:ext cx="228600" cy="228600"/>
          </a:xfrm>
          <a:prstGeom prst="ellipse">
            <a:avLst/>
          </a:prstGeom>
          <a:solidFill>
            <a:srgbClr val="22A6A1"/>
          </a:solidFill>
          <a:ln w="12700">
            <a:solidFill>
              <a:srgbClr val="22A6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79E6FD05-662F-DB01-9BF9-912B39A6F72C}"/>
              </a:ext>
            </a:extLst>
          </p:cNvPr>
          <p:cNvSpPr/>
          <p:nvPr/>
        </p:nvSpPr>
        <p:spPr>
          <a:xfrm>
            <a:off x="1841500" y="4178300"/>
            <a:ext cx="228600" cy="228600"/>
          </a:xfrm>
          <a:prstGeom prst="ellipse">
            <a:avLst/>
          </a:prstGeom>
          <a:solidFill>
            <a:srgbClr val="3D7EB8"/>
          </a:solidFill>
          <a:ln w="12700">
            <a:solidFill>
              <a:srgbClr val="3D7E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18D4798A-0973-B08A-1577-820C919B65C3}"/>
              </a:ext>
            </a:extLst>
          </p:cNvPr>
          <p:cNvSpPr/>
          <p:nvPr/>
        </p:nvSpPr>
        <p:spPr>
          <a:xfrm>
            <a:off x="4000500" y="4178300"/>
            <a:ext cx="228600" cy="228600"/>
          </a:xfrm>
          <a:prstGeom prst="ellipse">
            <a:avLst/>
          </a:prstGeom>
          <a:solidFill>
            <a:srgbClr val="3D7EB8"/>
          </a:solidFill>
          <a:ln w="12700">
            <a:solidFill>
              <a:srgbClr val="3D7E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A6968873-2267-36A5-9AF1-E015E18D7B4A}"/>
              </a:ext>
            </a:extLst>
          </p:cNvPr>
          <p:cNvSpPr/>
          <p:nvPr/>
        </p:nvSpPr>
        <p:spPr>
          <a:xfrm>
            <a:off x="3048000" y="5270500"/>
            <a:ext cx="228600" cy="228600"/>
          </a:xfrm>
          <a:prstGeom prst="ellipse">
            <a:avLst/>
          </a:prstGeom>
          <a:solidFill>
            <a:srgbClr val="3D7EB8"/>
          </a:solidFill>
          <a:ln w="12700">
            <a:solidFill>
              <a:srgbClr val="3D7E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9326C56-3F66-4F04-E870-DEC9FC44A766}"/>
              </a:ext>
            </a:extLst>
          </p:cNvPr>
          <p:cNvSpPr txBox="1"/>
          <p:nvPr/>
        </p:nvSpPr>
        <p:spPr>
          <a:xfrm>
            <a:off x="3302000" y="4445000"/>
            <a:ext cx="914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300" b="1">
                <a:solidFill>
                  <a:srgbClr val="1732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 </a:t>
            </a:r>
            <a:r>
              <a:rPr lang="zh-CN" altLang="en-US" sz="1300" b="1">
                <a:solidFill>
                  <a:srgbClr val="1732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原点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4CFE22B-AE54-88AD-A0DE-678A4D13D76B}"/>
              </a:ext>
            </a:extLst>
          </p:cNvPr>
          <p:cNvSpPr txBox="1"/>
          <p:nvPr/>
        </p:nvSpPr>
        <p:spPr>
          <a:xfrm>
            <a:off x="3200400" y="3022600"/>
            <a:ext cx="812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300" b="1">
                <a:solidFill>
                  <a:srgbClr val="22A6A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 Y+</a:t>
            </a:r>
            <a:endParaRPr lang="zh-CN" altLang="en-US" sz="1300" b="1">
              <a:solidFill>
                <a:srgbClr val="22A6A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F0C17EA-1369-38B6-5DF1-6A5504C177D1}"/>
              </a:ext>
            </a:extLst>
          </p:cNvPr>
          <p:cNvSpPr txBox="1"/>
          <p:nvPr/>
        </p:nvSpPr>
        <p:spPr>
          <a:xfrm>
            <a:off x="4064000" y="3949700"/>
            <a:ext cx="812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300" b="1">
                <a:solidFill>
                  <a:srgbClr val="3D7EB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 X+</a:t>
            </a:r>
            <a:endParaRPr lang="zh-CN" altLang="en-US" sz="1300" b="1">
              <a:solidFill>
                <a:srgbClr val="3D7EB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F247CEB-9F00-9785-3503-92A0B7BE4868}"/>
              </a:ext>
            </a:extLst>
          </p:cNvPr>
          <p:cNvSpPr txBox="1"/>
          <p:nvPr/>
        </p:nvSpPr>
        <p:spPr>
          <a:xfrm>
            <a:off x="1828800" y="5969000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CN" altLang="en-US" sz="1400">
                <a:solidFill>
                  <a:srgbClr val="5E6F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图像坐标 → 标定坐标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98C0F968-CCA4-0C06-82D4-8B5E994AAED2}"/>
              </a:ext>
            </a:extLst>
          </p:cNvPr>
          <p:cNvSpPr/>
          <p:nvPr/>
        </p:nvSpPr>
        <p:spPr>
          <a:xfrm>
            <a:off x="5918200" y="2260600"/>
            <a:ext cx="5588000" cy="4191000"/>
          </a:xfrm>
          <a:prstGeom prst="roundRect">
            <a:avLst/>
          </a:prstGeom>
          <a:solidFill>
            <a:srgbClr val="E2F5F3"/>
          </a:solidFill>
          <a:ln w="12700">
            <a:solidFill>
              <a:srgbClr val="E2F5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E2E29FC-F65D-2523-4D4B-440A32735D6D}"/>
              </a:ext>
            </a:extLst>
          </p:cNvPr>
          <p:cNvSpPr txBox="1"/>
          <p:nvPr/>
        </p:nvSpPr>
        <p:spPr>
          <a:xfrm>
            <a:off x="6273800" y="2641600"/>
            <a:ext cx="342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b="1">
                <a:solidFill>
                  <a:srgbClr val="1732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标定解决三个问题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05EFDCC-B24D-BDBA-8AE7-62499F718026}"/>
              </a:ext>
            </a:extLst>
          </p:cNvPr>
          <p:cNvSpPr txBox="1"/>
          <p:nvPr/>
        </p:nvSpPr>
        <p:spPr>
          <a:xfrm>
            <a:off x="6273800" y="3302000"/>
            <a:ext cx="431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700">
                <a:solidFill>
                  <a:srgbClr val="2430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  </a:t>
            </a:r>
            <a:r>
              <a:rPr lang="zh-CN" altLang="en-US" sz="1700">
                <a:solidFill>
                  <a:srgbClr val="2430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确定原点：避免直接使用图像中心</a:t>
            </a:r>
          </a:p>
          <a:p>
            <a:endParaRPr lang="zh-CN" altLang="en-US" sz="1700">
              <a:solidFill>
                <a:srgbClr val="24303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 sz="1700">
                <a:solidFill>
                  <a:srgbClr val="2430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  </a:t>
            </a:r>
            <a:r>
              <a:rPr lang="zh-CN" altLang="en-US" sz="1700">
                <a:solidFill>
                  <a:srgbClr val="2430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确定方向：消除相机旋转和安装角度</a:t>
            </a:r>
          </a:p>
          <a:p>
            <a:endParaRPr lang="zh-CN" altLang="en-US" sz="1700">
              <a:solidFill>
                <a:srgbClr val="24303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 sz="1700">
                <a:solidFill>
                  <a:srgbClr val="2430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  </a:t>
            </a:r>
            <a:r>
              <a:rPr lang="zh-CN" altLang="en-US" sz="1700">
                <a:solidFill>
                  <a:srgbClr val="2430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统一坐标：让位移分量对应光学方向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95981DC-FE0A-E704-95C1-2C26F583524F}"/>
              </a:ext>
            </a:extLst>
          </p:cNvPr>
          <p:cNvSpPr txBox="1"/>
          <p:nvPr/>
        </p:nvSpPr>
        <p:spPr>
          <a:xfrm>
            <a:off x="6273800" y="55245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00">
                <a:solidFill>
                  <a:srgbClr val="E07A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当前实现用点 </a:t>
            </a:r>
            <a:r>
              <a:rPr lang="en-US" altLang="zh-CN" sz="1300">
                <a:solidFill>
                  <a:srgbClr val="E07A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</a:t>
            </a:r>
            <a:r>
              <a:rPr lang="zh-CN" altLang="en-US" sz="1300">
                <a:solidFill>
                  <a:srgbClr val="E07A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300">
                <a:solidFill>
                  <a:srgbClr val="E07A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en-US" sz="1300">
                <a:solidFill>
                  <a:srgbClr val="E07A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300">
                <a:solidFill>
                  <a:srgbClr val="E07A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 </a:t>
            </a:r>
            <a:r>
              <a:rPr lang="zh-CN" altLang="en-US" sz="1300">
                <a:solidFill>
                  <a:srgbClr val="E07A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建轴，其他点用于保持五点结构。后续需要加入点序稳定性和异常检测。</a:t>
            </a:r>
          </a:p>
        </p:txBody>
      </p:sp>
    </p:spTree>
    <p:extLst>
      <p:ext uri="{BB962C8B-B14F-4D97-AF65-F5344CB8AC3E}">
        <p14:creationId xmlns:p14="http://schemas.microsoft.com/office/powerpoint/2010/main" val="329797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6696831-A3EC-E148-A70C-44B43C8EC86C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22A6A1"/>
          </a:solidFill>
          <a:ln w="12700">
            <a:solidFill>
              <a:srgbClr val="22A6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B9D03AB-BC67-E4F5-7B69-A9E47660AA81}"/>
              </a:ext>
            </a:extLst>
          </p:cNvPr>
          <p:cNvSpPr txBox="1"/>
          <p:nvPr/>
        </p:nvSpPr>
        <p:spPr>
          <a:xfrm>
            <a:off x="685800" y="355600"/>
            <a:ext cx="914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2500" b="1">
                <a:solidFill>
                  <a:srgbClr val="1732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当前原型已经打通主链路，但距离可执行软件还有工程化工作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1DD03B8-6FCB-6DB8-8D82-D1CB9A00D6F4}"/>
              </a:ext>
            </a:extLst>
          </p:cNvPr>
          <p:cNvSpPr txBox="1"/>
          <p:nvPr/>
        </p:nvSpPr>
        <p:spPr>
          <a:xfrm>
            <a:off x="9652000" y="406400"/>
            <a:ext cx="1841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zh-CN" altLang="en-US" sz="1000">
                <a:solidFill>
                  <a:srgbClr val="5E6F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焦度计项目  </a:t>
            </a:r>
            <a:r>
              <a:rPr lang="en-US" altLang="zh-CN" sz="1000">
                <a:solidFill>
                  <a:srgbClr val="5E6F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|  08</a:t>
            </a:r>
            <a:endParaRPr lang="zh-CN" altLang="en-US" sz="1000">
              <a:solidFill>
                <a:srgbClr val="5E6F7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51DBD1F0-CFF0-FB6D-D27D-B31146CE7CD5}"/>
              </a:ext>
            </a:extLst>
          </p:cNvPr>
          <p:cNvCxnSpPr/>
          <p:nvPr/>
        </p:nvCxnSpPr>
        <p:spPr>
          <a:xfrm>
            <a:off x="685800" y="965200"/>
            <a:ext cx="10820400" cy="0"/>
          </a:xfrm>
          <a:prstGeom prst="line">
            <a:avLst/>
          </a:prstGeom>
          <a:ln w="12700">
            <a:solidFill>
              <a:srgbClr val="D2DC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1F92885B-6881-31F6-F3C5-AB13D2B55947}"/>
              </a:ext>
            </a:extLst>
          </p:cNvPr>
          <p:cNvSpPr txBox="1"/>
          <p:nvPr/>
        </p:nvSpPr>
        <p:spPr>
          <a:xfrm>
            <a:off x="685800" y="13081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b="1">
                <a:solidFill>
                  <a:srgbClr val="1732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答辩时应把“已完成”和“待验证”分开讲，避免把原型结果表述成最终性能。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375362C1-0056-D267-BF74-F83A33AF2468}"/>
              </a:ext>
            </a:extLst>
          </p:cNvPr>
          <p:cNvSpPr/>
          <p:nvPr/>
        </p:nvSpPr>
        <p:spPr>
          <a:xfrm>
            <a:off x="1041400" y="2159000"/>
            <a:ext cx="1270000" cy="330200"/>
          </a:xfrm>
          <a:prstGeom prst="roundRect">
            <a:avLst/>
          </a:prstGeom>
          <a:solidFill>
            <a:srgbClr val="E2F5F3"/>
          </a:solidFill>
          <a:ln w="12700">
            <a:solidFill>
              <a:srgbClr val="E2F5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637E19C-6033-3FCD-58CA-798B239E6288}"/>
              </a:ext>
            </a:extLst>
          </p:cNvPr>
          <p:cNvSpPr txBox="1"/>
          <p:nvPr/>
        </p:nvSpPr>
        <p:spPr>
          <a:xfrm>
            <a:off x="1143000" y="2209800"/>
            <a:ext cx="1066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CN" altLang="en-US" sz="1100" b="1">
                <a:solidFill>
                  <a:srgbClr val="22A6A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已有基础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28CC10FC-EC0B-CD73-4853-C7D86A2BD5B4}"/>
              </a:ext>
            </a:extLst>
          </p:cNvPr>
          <p:cNvSpPr/>
          <p:nvPr/>
        </p:nvSpPr>
        <p:spPr>
          <a:xfrm>
            <a:off x="6451600" y="2159000"/>
            <a:ext cx="1270000" cy="330200"/>
          </a:xfrm>
          <a:prstGeom prst="roundRect">
            <a:avLst/>
          </a:prstGeom>
          <a:solidFill>
            <a:srgbClr val="FCEEE5"/>
          </a:solidFill>
          <a:ln w="12700">
            <a:solidFill>
              <a:srgbClr val="FCEE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9788471-FA71-026E-9141-8EF3117C4A05}"/>
              </a:ext>
            </a:extLst>
          </p:cNvPr>
          <p:cNvSpPr txBox="1"/>
          <p:nvPr/>
        </p:nvSpPr>
        <p:spPr>
          <a:xfrm>
            <a:off x="6553200" y="2209800"/>
            <a:ext cx="1066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CN" altLang="en-US" sz="1100" b="1">
                <a:solidFill>
                  <a:srgbClr val="E07A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需要补齐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E0FDFB8-2C27-3D22-FA4A-49D03D6CA10C}"/>
              </a:ext>
            </a:extLst>
          </p:cNvPr>
          <p:cNvSpPr txBox="1"/>
          <p:nvPr/>
        </p:nvSpPr>
        <p:spPr>
          <a:xfrm>
            <a:off x="1041400" y="2794000"/>
            <a:ext cx="4318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700">
                <a:solidFill>
                  <a:srgbClr val="2430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✓ </a:t>
            </a:r>
            <a:r>
              <a:rPr lang="en-US" altLang="zh-CN" sz="1700">
                <a:solidFill>
                  <a:srgbClr val="2430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OpenCV </a:t>
            </a:r>
            <a:r>
              <a:rPr lang="zh-CN" altLang="en-US" sz="1700">
                <a:solidFill>
                  <a:srgbClr val="2430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图像处理流程</a:t>
            </a:r>
          </a:p>
          <a:p>
            <a:r>
              <a:rPr lang="zh-CN" altLang="en-US" sz="1700">
                <a:solidFill>
                  <a:srgbClr val="2430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✓ 五光斑检测与质心计算</a:t>
            </a:r>
          </a:p>
          <a:p>
            <a:r>
              <a:rPr lang="zh-CN" altLang="en-US" sz="1700">
                <a:solidFill>
                  <a:srgbClr val="2430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✓ 局部坐标系建立</a:t>
            </a:r>
          </a:p>
          <a:p>
            <a:r>
              <a:rPr lang="zh-CN" altLang="en-US" sz="1700">
                <a:solidFill>
                  <a:srgbClr val="2430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✓ 球镜 </a:t>
            </a:r>
            <a:r>
              <a:rPr lang="en-US" altLang="zh-CN" sz="1700">
                <a:solidFill>
                  <a:srgbClr val="2430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700">
                <a:solidFill>
                  <a:srgbClr val="2430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柱镜计算接口</a:t>
            </a:r>
          </a:p>
          <a:p>
            <a:r>
              <a:rPr lang="zh-CN" altLang="en-US" sz="1700">
                <a:solidFill>
                  <a:srgbClr val="2430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✓ 已生成 </a:t>
            </a:r>
            <a:r>
              <a:rPr lang="en-US" altLang="zh-CN" sz="1700">
                <a:solidFill>
                  <a:srgbClr val="2430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Debug </a:t>
            </a:r>
            <a:r>
              <a:rPr lang="zh-CN" altLang="en-US" sz="1700">
                <a:solidFill>
                  <a:srgbClr val="2430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可执行文件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6FD3FD5-DD4A-3E1C-F652-127C4E9A213A}"/>
              </a:ext>
            </a:extLst>
          </p:cNvPr>
          <p:cNvSpPr txBox="1"/>
          <p:nvPr/>
        </p:nvSpPr>
        <p:spPr>
          <a:xfrm>
            <a:off x="6451600" y="27940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700">
                <a:solidFill>
                  <a:srgbClr val="2430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□ 输入路径改为配置或命令行参数</a:t>
            </a:r>
          </a:p>
          <a:p>
            <a:r>
              <a:rPr lang="zh-CN" altLang="en-US" sz="1700">
                <a:solidFill>
                  <a:srgbClr val="2430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□ 保存和加载标定结果</a:t>
            </a:r>
          </a:p>
          <a:p>
            <a:r>
              <a:rPr lang="zh-CN" altLang="en-US" sz="1700">
                <a:solidFill>
                  <a:srgbClr val="2430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□ 固定单位、距离和像元参数</a:t>
            </a:r>
          </a:p>
          <a:p>
            <a:r>
              <a:rPr lang="zh-CN" altLang="en-US" sz="1700">
                <a:solidFill>
                  <a:srgbClr val="2430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□ 增加样本、真值和自动测试</a:t>
            </a:r>
          </a:p>
          <a:p>
            <a:r>
              <a:rPr lang="zh-CN" altLang="en-US" sz="1700">
                <a:solidFill>
                  <a:srgbClr val="2430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□ 按 </a:t>
            </a:r>
            <a:r>
              <a:rPr lang="en-US" altLang="zh-CN" sz="1700">
                <a:solidFill>
                  <a:srgbClr val="2430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JJG 580 </a:t>
            </a:r>
            <a:r>
              <a:rPr lang="zh-CN" altLang="en-US" sz="1700">
                <a:solidFill>
                  <a:srgbClr val="2430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建立误差验证</a:t>
            </a:r>
          </a:p>
          <a:p>
            <a:r>
              <a:rPr lang="zh-CN" altLang="en-US" sz="1700">
                <a:solidFill>
                  <a:srgbClr val="2430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□ 再接入相机或图形界面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A34509EF-A0F3-A29E-B885-2FECF235CDD1}"/>
              </a:ext>
            </a:extLst>
          </p:cNvPr>
          <p:cNvSpPr/>
          <p:nvPr/>
        </p:nvSpPr>
        <p:spPr>
          <a:xfrm>
            <a:off x="1041400" y="5397500"/>
            <a:ext cx="9855200" cy="825500"/>
          </a:xfrm>
          <a:prstGeom prst="roundRect">
            <a:avLst/>
          </a:prstGeom>
          <a:solidFill>
            <a:srgbClr val="E8F1FA"/>
          </a:solidFill>
          <a:ln w="12700">
            <a:solidFill>
              <a:srgbClr val="E8F1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319FBB3-2AEC-110F-0ACD-EB165076422F}"/>
              </a:ext>
            </a:extLst>
          </p:cNvPr>
          <p:cNvSpPr txBox="1"/>
          <p:nvPr/>
        </p:nvSpPr>
        <p:spPr>
          <a:xfrm>
            <a:off x="1397000" y="5676900"/>
            <a:ext cx="914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CN" altLang="en-US" sz="1500" b="1">
                <a:solidFill>
                  <a:srgbClr val="1732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当前最重要的下一步：先把公式、参数、输入输出和验收指标写成明确的程序规格。</a:t>
            </a:r>
          </a:p>
        </p:txBody>
      </p:sp>
    </p:spTree>
    <p:extLst>
      <p:ext uri="{BB962C8B-B14F-4D97-AF65-F5344CB8AC3E}">
        <p14:creationId xmlns:p14="http://schemas.microsoft.com/office/powerpoint/2010/main" val="811167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A1690B8-0516-3F6C-AD2A-BE5645E969F5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22A6A1"/>
          </a:solidFill>
          <a:ln w="12700">
            <a:solidFill>
              <a:srgbClr val="22A6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21B5107-1C1B-A74E-59D1-B6FA3F9F9EAB}"/>
              </a:ext>
            </a:extLst>
          </p:cNvPr>
          <p:cNvSpPr txBox="1"/>
          <p:nvPr/>
        </p:nvSpPr>
        <p:spPr>
          <a:xfrm>
            <a:off x="685800" y="355600"/>
            <a:ext cx="914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2500" b="1">
                <a:solidFill>
                  <a:srgbClr val="1732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后续路线：先可解释，再可复现，最后做成可执行程序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24BED29-6552-1610-4F70-0B3123680C10}"/>
              </a:ext>
            </a:extLst>
          </p:cNvPr>
          <p:cNvSpPr txBox="1"/>
          <p:nvPr/>
        </p:nvSpPr>
        <p:spPr>
          <a:xfrm>
            <a:off x="9652000" y="406400"/>
            <a:ext cx="1841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zh-CN" altLang="en-US" sz="1000">
                <a:solidFill>
                  <a:srgbClr val="5E6F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焦度计项目  </a:t>
            </a:r>
            <a:r>
              <a:rPr lang="en-US" altLang="zh-CN" sz="1000">
                <a:solidFill>
                  <a:srgbClr val="5E6F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|  09</a:t>
            </a:r>
            <a:endParaRPr lang="zh-CN" altLang="en-US" sz="1000">
              <a:solidFill>
                <a:srgbClr val="5E6F7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C7BAE3AD-0E24-79F1-3E09-9A40C1CC2EAF}"/>
              </a:ext>
            </a:extLst>
          </p:cNvPr>
          <p:cNvCxnSpPr/>
          <p:nvPr/>
        </p:nvCxnSpPr>
        <p:spPr>
          <a:xfrm>
            <a:off x="685800" y="965200"/>
            <a:ext cx="10820400" cy="0"/>
          </a:xfrm>
          <a:prstGeom prst="line">
            <a:avLst/>
          </a:prstGeom>
          <a:ln w="12700">
            <a:solidFill>
              <a:srgbClr val="D2DC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DECFFB13-CBDC-E7B9-E420-DF26189C69AD}"/>
              </a:ext>
            </a:extLst>
          </p:cNvPr>
          <p:cNvSpPr txBox="1"/>
          <p:nvPr/>
        </p:nvSpPr>
        <p:spPr>
          <a:xfrm>
            <a:off x="685800" y="13081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b="1">
                <a:solidFill>
                  <a:srgbClr val="1732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项目按照“原理冻结 → 算法验证 → 工程落地”的顺序推进。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0347C1DA-9B32-2F15-E52A-BCEE2DA88672}"/>
              </a:ext>
            </a:extLst>
          </p:cNvPr>
          <p:cNvSpPr/>
          <p:nvPr/>
        </p:nvSpPr>
        <p:spPr>
          <a:xfrm>
            <a:off x="939800" y="2641600"/>
            <a:ext cx="3048000" cy="2921000"/>
          </a:xfrm>
          <a:prstGeom prst="roundRect">
            <a:avLst/>
          </a:prstGeom>
          <a:solidFill>
            <a:srgbClr val="E8F1FA"/>
          </a:solidFill>
          <a:ln w="12700">
            <a:solidFill>
              <a:srgbClr val="E8F1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A86A243A-0C8B-7B69-93A7-5B219FB96961}"/>
              </a:ext>
            </a:extLst>
          </p:cNvPr>
          <p:cNvSpPr/>
          <p:nvPr/>
        </p:nvSpPr>
        <p:spPr>
          <a:xfrm>
            <a:off x="1193800" y="2946400"/>
            <a:ext cx="558800" cy="558800"/>
          </a:xfrm>
          <a:prstGeom prst="ellipse">
            <a:avLst/>
          </a:prstGeom>
          <a:solidFill>
            <a:srgbClr val="3D7EB8"/>
          </a:solidFill>
          <a:ln w="12700">
            <a:solidFill>
              <a:srgbClr val="3D7E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35C2D01-B825-2C16-E056-238C7554C65B}"/>
              </a:ext>
            </a:extLst>
          </p:cNvPr>
          <p:cNvSpPr txBox="1"/>
          <p:nvPr/>
        </p:nvSpPr>
        <p:spPr>
          <a:xfrm>
            <a:off x="1193800" y="3098800"/>
            <a:ext cx="558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sz="13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01</a:t>
            </a:r>
            <a:endParaRPr lang="zh-CN" altLang="en-US" sz="13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6E72655-8126-C17B-2EC7-EBD5E8663276}"/>
              </a:ext>
            </a:extLst>
          </p:cNvPr>
          <p:cNvSpPr txBox="1"/>
          <p:nvPr/>
        </p:nvSpPr>
        <p:spPr>
          <a:xfrm>
            <a:off x="1981200" y="3022600"/>
            <a:ext cx="165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b="1">
                <a:solidFill>
                  <a:srgbClr val="1732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原理冻结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3A38DF2-FA35-B86A-6093-862FE7786870}"/>
              </a:ext>
            </a:extLst>
          </p:cNvPr>
          <p:cNvSpPr txBox="1"/>
          <p:nvPr/>
        </p:nvSpPr>
        <p:spPr>
          <a:xfrm>
            <a:off x="1219200" y="3873500"/>
            <a:ext cx="2476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500">
                <a:solidFill>
                  <a:srgbClr val="2430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从项目 </a:t>
            </a:r>
            <a:r>
              <a:rPr lang="en-US" altLang="zh-CN" sz="1500">
                <a:solidFill>
                  <a:srgbClr val="2430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PPT </a:t>
            </a:r>
            <a:r>
              <a:rPr lang="zh-CN" altLang="en-US" sz="1500">
                <a:solidFill>
                  <a:srgbClr val="2430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和实际光路确认变量、单位、公式和适用条件。</a:t>
            </a: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9AE73523-96E9-897E-B17B-0D604D54C08A}"/>
              </a:ext>
            </a:extLst>
          </p:cNvPr>
          <p:cNvCxnSpPr/>
          <p:nvPr/>
        </p:nvCxnSpPr>
        <p:spPr>
          <a:xfrm>
            <a:off x="3987800" y="4102100"/>
            <a:ext cx="584200" cy="0"/>
          </a:xfrm>
          <a:prstGeom prst="line">
            <a:avLst/>
          </a:prstGeom>
          <a:ln w="25400">
            <a:solidFill>
              <a:srgbClr val="5E6F7E"/>
            </a:solidFill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C35229AC-629E-FA3C-C8F0-669FE04E1AE4}"/>
              </a:ext>
            </a:extLst>
          </p:cNvPr>
          <p:cNvSpPr/>
          <p:nvPr/>
        </p:nvSpPr>
        <p:spPr>
          <a:xfrm>
            <a:off x="4572000" y="2641600"/>
            <a:ext cx="3048000" cy="2921000"/>
          </a:xfrm>
          <a:prstGeom prst="roundRect">
            <a:avLst/>
          </a:prstGeom>
          <a:solidFill>
            <a:srgbClr val="E2F5F3"/>
          </a:solidFill>
          <a:ln w="12700">
            <a:solidFill>
              <a:srgbClr val="E2F5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13095173-AFE0-BDF4-5967-B4A089E1AFB4}"/>
              </a:ext>
            </a:extLst>
          </p:cNvPr>
          <p:cNvSpPr/>
          <p:nvPr/>
        </p:nvSpPr>
        <p:spPr>
          <a:xfrm>
            <a:off x="4826000" y="2946400"/>
            <a:ext cx="558800" cy="558800"/>
          </a:xfrm>
          <a:prstGeom prst="ellipse">
            <a:avLst/>
          </a:prstGeom>
          <a:solidFill>
            <a:srgbClr val="22A6A1"/>
          </a:solidFill>
          <a:ln w="12700">
            <a:solidFill>
              <a:srgbClr val="22A6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2DCDA28-1C94-A8EB-97CB-0CEE31EEA0FE}"/>
              </a:ext>
            </a:extLst>
          </p:cNvPr>
          <p:cNvSpPr txBox="1"/>
          <p:nvPr/>
        </p:nvSpPr>
        <p:spPr>
          <a:xfrm>
            <a:off x="4826000" y="3098800"/>
            <a:ext cx="558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sz="13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02</a:t>
            </a:r>
            <a:endParaRPr lang="zh-CN" altLang="en-US" sz="13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90A883E-0098-B74D-0E34-C73613818CF5}"/>
              </a:ext>
            </a:extLst>
          </p:cNvPr>
          <p:cNvSpPr txBox="1"/>
          <p:nvPr/>
        </p:nvSpPr>
        <p:spPr>
          <a:xfrm>
            <a:off x="5613400" y="3022600"/>
            <a:ext cx="165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b="1">
                <a:solidFill>
                  <a:srgbClr val="1732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算法验证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AB7605F-26AD-DB38-BBE8-CD1329DD3553}"/>
              </a:ext>
            </a:extLst>
          </p:cNvPr>
          <p:cNvSpPr txBox="1"/>
          <p:nvPr/>
        </p:nvSpPr>
        <p:spPr>
          <a:xfrm>
            <a:off x="4851400" y="3873500"/>
            <a:ext cx="2476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500">
                <a:solidFill>
                  <a:srgbClr val="2430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用真实图片输出中间结果、光斑坐标、位移和计算结果。</a:t>
            </a: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BB56233E-8BBB-D479-08C7-2D93C3B92E83}"/>
              </a:ext>
            </a:extLst>
          </p:cNvPr>
          <p:cNvCxnSpPr/>
          <p:nvPr/>
        </p:nvCxnSpPr>
        <p:spPr>
          <a:xfrm>
            <a:off x="7620000" y="4102100"/>
            <a:ext cx="584200" cy="0"/>
          </a:xfrm>
          <a:prstGeom prst="line">
            <a:avLst/>
          </a:prstGeom>
          <a:ln w="25400">
            <a:solidFill>
              <a:srgbClr val="5E6F7E"/>
            </a:solidFill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AB08CD2E-5A4C-F35A-9066-C23481DF5C67}"/>
              </a:ext>
            </a:extLst>
          </p:cNvPr>
          <p:cNvSpPr/>
          <p:nvPr/>
        </p:nvSpPr>
        <p:spPr>
          <a:xfrm>
            <a:off x="8204200" y="2641600"/>
            <a:ext cx="3048000" cy="2921000"/>
          </a:xfrm>
          <a:prstGeom prst="roundRect">
            <a:avLst/>
          </a:prstGeom>
          <a:solidFill>
            <a:srgbClr val="FCEEE5"/>
          </a:solidFill>
          <a:ln w="12700">
            <a:solidFill>
              <a:srgbClr val="FCEE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C7111CAA-B902-9FDC-CC11-A193D42636C9}"/>
              </a:ext>
            </a:extLst>
          </p:cNvPr>
          <p:cNvSpPr/>
          <p:nvPr/>
        </p:nvSpPr>
        <p:spPr>
          <a:xfrm>
            <a:off x="8458200" y="2946400"/>
            <a:ext cx="558800" cy="558800"/>
          </a:xfrm>
          <a:prstGeom prst="ellipse">
            <a:avLst/>
          </a:prstGeom>
          <a:solidFill>
            <a:srgbClr val="E07A3F"/>
          </a:solidFill>
          <a:ln w="12700">
            <a:solidFill>
              <a:srgbClr val="E07A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B5FBC2A-FC2D-CAA6-6F72-C1D5D8CDCB32}"/>
              </a:ext>
            </a:extLst>
          </p:cNvPr>
          <p:cNvSpPr txBox="1"/>
          <p:nvPr/>
        </p:nvSpPr>
        <p:spPr>
          <a:xfrm>
            <a:off x="8458200" y="3098800"/>
            <a:ext cx="558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sz="13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</a:t>
            </a:r>
            <a:endParaRPr lang="zh-CN" altLang="en-US" sz="13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61723DA-234B-FF6E-D89E-C428BA895B6A}"/>
              </a:ext>
            </a:extLst>
          </p:cNvPr>
          <p:cNvSpPr txBox="1"/>
          <p:nvPr/>
        </p:nvSpPr>
        <p:spPr>
          <a:xfrm>
            <a:off x="9245600" y="3022600"/>
            <a:ext cx="165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b="1">
                <a:solidFill>
                  <a:srgbClr val="1732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程序落地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6040F6A-C047-D3D1-BE36-5DD52950BFF2}"/>
              </a:ext>
            </a:extLst>
          </p:cNvPr>
          <p:cNvSpPr txBox="1"/>
          <p:nvPr/>
        </p:nvSpPr>
        <p:spPr>
          <a:xfrm>
            <a:off x="8483600" y="3873500"/>
            <a:ext cx="2476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500">
                <a:solidFill>
                  <a:srgbClr val="2430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配置化输入、标定文件、错误提示、测试和标准化输出。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3FE0FB8-E303-E9FE-BD72-3A94FF0D143F}"/>
              </a:ext>
            </a:extLst>
          </p:cNvPr>
          <p:cNvSpPr txBox="1"/>
          <p:nvPr/>
        </p:nvSpPr>
        <p:spPr>
          <a:xfrm>
            <a:off x="939800" y="62865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CN" altLang="en-US" sz="1600">
                <a:solidFill>
                  <a:srgbClr val="5E6F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每一步都要有可检查的产物：公式表、样本输出、误差统计、可运行命令。</a:t>
            </a:r>
          </a:p>
        </p:txBody>
      </p:sp>
    </p:spTree>
    <p:extLst>
      <p:ext uri="{BB962C8B-B14F-4D97-AF65-F5344CB8AC3E}">
        <p14:creationId xmlns:p14="http://schemas.microsoft.com/office/powerpoint/2010/main" val="11274071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CF1F6B6-35BE-B31E-5CB7-D766DDFB9552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22A6A1"/>
          </a:solidFill>
          <a:ln w="12700">
            <a:solidFill>
              <a:srgbClr val="22A6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915AD20-B817-1A4B-79BE-F7EC8EBCE09C}"/>
              </a:ext>
            </a:extLst>
          </p:cNvPr>
          <p:cNvSpPr txBox="1"/>
          <p:nvPr/>
        </p:nvSpPr>
        <p:spPr>
          <a:xfrm>
            <a:off x="685800" y="355600"/>
            <a:ext cx="914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2500" b="1">
                <a:solidFill>
                  <a:srgbClr val="1732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本次汇报希望形成三点共识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EF75289-C35E-15DD-C99A-8239E8B7BCB0}"/>
              </a:ext>
            </a:extLst>
          </p:cNvPr>
          <p:cNvSpPr txBox="1"/>
          <p:nvPr/>
        </p:nvSpPr>
        <p:spPr>
          <a:xfrm>
            <a:off x="9652000" y="406400"/>
            <a:ext cx="18415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zh-CN" altLang="en-US" sz="1000">
                <a:solidFill>
                  <a:srgbClr val="5E6F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焦度计项目  </a:t>
            </a:r>
            <a:r>
              <a:rPr lang="en-US" altLang="zh-CN" sz="1000">
                <a:solidFill>
                  <a:srgbClr val="5E6F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|  10</a:t>
            </a:r>
            <a:endParaRPr lang="zh-CN" altLang="en-US" sz="1000">
              <a:solidFill>
                <a:srgbClr val="5E6F7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BE53BDD9-58A8-6D51-B011-2C64732BC924}"/>
              </a:ext>
            </a:extLst>
          </p:cNvPr>
          <p:cNvCxnSpPr/>
          <p:nvPr/>
        </p:nvCxnSpPr>
        <p:spPr>
          <a:xfrm>
            <a:off x="685800" y="965200"/>
            <a:ext cx="10820400" cy="0"/>
          </a:xfrm>
          <a:prstGeom prst="line">
            <a:avLst/>
          </a:prstGeom>
          <a:ln w="12700">
            <a:solidFill>
              <a:srgbClr val="D2DC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9700EB79-280A-CC05-4824-6C7E8D032687}"/>
              </a:ext>
            </a:extLst>
          </p:cNvPr>
          <p:cNvSpPr/>
          <p:nvPr/>
        </p:nvSpPr>
        <p:spPr>
          <a:xfrm>
            <a:off x="889000" y="1905000"/>
            <a:ext cx="10414000" cy="3175000"/>
          </a:xfrm>
          <a:prstGeom prst="roundRect">
            <a:avLst/>
          </a:prstGeom>
          <a:solidFill>
            <a:srgbClr val="17324D"/>
          </a:solidFill>
          <a:ln w="12700">
            <a:solidFill>
              <a:srgbClr val="1732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1234E54-6667-C1D5-2571-38DF851728BB}"/>
              </a:ext>
            </a:extLst>
          </p:cNvPr>
          <p:cNvSpPr txBox="1"/>
          <p:nvPr/>
        </p:nvSpPr>
        <p:spPr>
          <a:xfrm>
            <a:off x="1346200" y="2387600"/>
            <a:ext cx="685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sz="4200" b="1">
                <a:solidFill>
                  <a:srgbClr val="22A6A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endParaRPr lang="zh-CN" altLang="en-US" sz="4200" b="1">
              <a:solidFill>
                <a:srgbClr val="22A6A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327DBA0-341F-EF2A-595C-B7E2D480C834}"/>
              </a:ext>
            </a:extLst>
          </p:cNvPr>
          <p:cNvSpPr txBox="1"/>
          <p:nvPr/>
        </p:nvSpPr>
        <p:spPr>
          <a:xfrm>
            <a:off x="2311400" y="2451100"/>
            <a:ext cx="800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22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项目测量的是光斑位移，不是直接识别镜片标签。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3388F75-B655-697F-1610-1A8021F931DC}"/>
              </a:ext>
            </a:extLst>
          </p:cNvPr>
          <p:cNvSpPr txBox="1"/>
          <p:nvPr/>
        </p:nvSpPr>
        <p:spPr>
          <a:xfrm>
            <a:off x="1346200" y="3352800"/>
            <a:ext cx="685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sz="4200" b="1">
                <a:solidFill>
                  <a:srgbClr val="E07A3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endParaRPr lang="zh-CN" altLang="en-US" sz="4200" b="1">
              <a:solidFill>
                <a:srgbClr val="E07A3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3D0A8C6-2151-FABD-B749-FAAF33684621}"/>
              </a:ext>
            </a:extLst>
          </p:cNvPr>
          <p:cNvSpPr txBox="1"/>
          <p:nvPr/>
        </p:nvSpPr>
        <p:spPr>
          <a:xfrm>
            <a:off x="2311400" y="3416300"/>
            <a:ext cx="800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22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focimeter.cpp </a:t>
            </a:r>
            <a:r>
              <a:rPr lang="zh-CN" altLang="en-US" sz="22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证明主流程可以串起来，但仍属于答辩原型。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BB2CF15-E54D-B580-C33C-36C61FE4F0E8}"/>
              </a:ext>
            </a:extLst>
          </p:cNvPr>
          <p:cNvSpPr txBox="1"/>
          <p:nvPr/>
        </p:nvSpPr>
        <p:spPr>
          <a:xfrm>
            <a:off x="1346200" y="4318000"/>
            <a:ext cx="685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sz="4200" b="1">
                <a:solidFill>
                  <a:srgbClr val="22A6A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endParaRPr lang="zh-CN" altLang="en-US" sz="4200" b="1">
              <a:solidFill>
                <a:srgbClr val="22A6A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2999C65-DC9D-C58B-FC05-EF05BCF6DA98}"/>
              </a:ext>
            </a:extLst>
          </p:cNvPr>
          <p:cNvSpPr txBox="1"/>
          <p:nvPr/>
        </p:nvSpPr>
        <p:spPr>
          <a:xfrm>
            <a:off x="2311400" y="4381500"/>
            <a:ext cx="8001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22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下一步先固化原理和验证指标，再把它转换成可执行程序。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07437A2-5DF1-017C-7F15-3B39507FD2A3}"/>
              </a:ext>
            </a:extLst>
          </p:cNvPr>
          <p:cNvSpPr txBox="1"/>
          <p:nvPr/>
        </p:nvSpPr>
        <p:spPr>
          <a:xfrm>
            <a:off x="889000" y="6159500"/>
            <a:ext cx="1041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CN" altLang="en-US" sz="1300">
                <a:solidFill>
                  <a:srgbClr val="5E6F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资料依据：项目演示文稿、</a:t>
            </a:r>
            <a:r>
              <a:rPr lang="en-US" altLang="zh-CN" sz="1300">
                <a:solidFill>
                  <a:srgbClr val="5E6F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JJG 580-2005</a:t>
            </a:r>
            <a:r>
              <a:rPr lang="zh-CN" altLang="en-US" sz="1300">
                <a:solidFill>
                  <a:srgbClr val="5E6F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300">
                <a:solidFill>
                  <a:srgbClr val="5E6F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GB 10810.1-2005</a:t>
            </a:r>
            <a:r>
              <a:rPr lang="zh-CN" altLang="en-US" sz="1300">
                <a:solidFill>
                  <a:srgbClr val="5E6F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。陈文婷论文仅作方法背景与限制参考。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22A9329-6D46-7AD9-99EA-70F99DCA4E83}"/>
              </a:ext>
            </a:extLst>
          </p:cNvPr>
          <p:cNvSpPr txBox="1"/>
          <p:nvPr/>
        </p:nvSpPr>
        <p:spPr>
          <a:xfrm>
            <a:off x="889000" y="7239000"/>
            <a:ext cx="1041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CN" altLang="en-US" sz="2400" b="1">
                <a:solidFill>
                  <a:srgbClr val="1732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谢谢</a:t>
            </a:r>
          </a:p>
        </p:txBody>
      </p:sp>
    </p:spTree>
    <p:extLst>
      <p:ext uri="{BB962C8B-B14F-4D97-AF65-F5344CB8AC3E}">
        <p14:creationId xmlns:p14="http://schemas.microsoft.com/office/powerpoint/2010/main" val="18486827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1063</Words>
  <Application>Microsoft Office PowerPoint</Application>
  <PresentationFormat>自定义</PresentationFormat>
  <Paragraphs>159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5" baseType="lpstr">
      <vt:lpstr>等线</vt:lpstr>
      <vt:lpstr>等线 Light</vt:lpstr>
      <vt:lpstr>Microsoft YaHei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康乐 杨</dc:creator>
  <cp:lastModifiedBy>康乐 杨</cp:lastModifiedBy>
  <cp:revision>1</cp:revision>
  <dcterms:created xsi:type="dcterms:W3CDTF">2026-07-16T13:20:46Z</dcterms:created>
  <dcterms:modified xsi:type="dcterms:W3CDTF">2026-07-16T13:20:46Z</dcterms:modified>
</cp:coreProperties>
</file>