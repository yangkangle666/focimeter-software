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2" r:id="rId5"/>
    <p:sldId id="276" r:id="rId6"/>
    <p:sldId id="271" r:id="rId7"/>
    <p:sldId id="273" r:id="rId8"/>
    <p:sldId id="274" r:id="rId9"/>
    <p:sldId id="277" r:id="rId10"/>
    <p:sldId id="278" r:id="rId11"/>
    <p:sldId id="279" r:id="rId12"/>
    <p:sldId id="275" r:id="rId13"/>
    <p:sldId id="281" r:id="rId14"/>
    <p:sldId id="282" r:id="rId15"/>
    <p:sldId id="28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slide" Target="slide13.xml"/><Relationship Id="rId5" Type="http://schemas.openxmlformats.org/officeDocument/2006/relationships/slide" Target="slide15.xml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D39CDC-3709-5ED4-76D2-3879655F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06" y="1770939"/>
            <a:ext cx="14434187" cy="433672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58FB00C-5570-8B8F-B9D7-B675435B8A80}"/>
              </a:ext>
            </a:extLst>
          </p:cNvPr>
          <p:cNvSpPr txBox="1"/>
          <p:nvPr/>
        </p:nvSpPr>
        <p:spPr>
          <a:xfrm>
            <a:off x="1193800" y="685800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眼镜片的分类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ADA49D-B950-E1C0-DA27-F2489B90E367}"/>
              </a:ext>
            </a:extLst>
          </p:cNvPr>
          <p:cNvSpPr txBox="1"/>
          <p:nvPr/>
        </p:nvSpPr>
        <p:spPr>
          <a:xfrm>
            <a:off x="1113135" y="6477000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/>
              <a:t>单焦镜片</a:t>
            </a:r>
          </a:p>
          <a:p>
            <a:pPr algn="ctr"/>
            <a:r>
              <a:rPr lang="zh-CN" altLang="en-US" sz="2400" dirty="0"/>
              <a:t>整体仅有一个屈光度，但无</a:t>
            </a:r>
          </a:p>
          <a:p>
            <a:pPr algn="ctr"/>
            <a:r>
              <a:rPr lang="zh-CN" altLang="en-US" sz="2400" dirty="0"/>
              <a:t>法兼顾远近视力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B864DD-3C2E-2DF8-B1BA-6C1331AE0A87}"/>
              </a:ext>
            </a:extLst>
          </p:cNvPr>
          <p:cNvSpPr txBox="1"/>
          <p:nvPr/>
        </p:nvSpPr>
        <p:spPr>
          <a:xfrm>
            <a:off x="5379593" y="6476999"/>
            <a:ext cx="44935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/>
              <a:t>双焦</a:t>
            </a:r>
            <a:r>
              <a:rPr lang="en-US" altLang="zh-CN" sz="2400" dirty="0"/>
              <a:t>/</a:t>
            </a:r>
            <a:r>
              <a:rPr lang="zh-CN" altLang="en-US" sz="2400" dirty="0"/>
              <a:t>三焦镜片</a:t>
            </a:r>
          </a:p>
          <a:p>
            <a:pPr algn="ctr"/>
            <a:r>
              <a:rPr lang="zh-CN" altLang="en-US" sz="2400" dirty="0"/>
              <a:t>通过物理切割融合不同焦度，导</a:t>
            </a:r>
          </a:p>
          <a:p>
            <a:pPr algn="ctr"/>
            <a:r>
              <a:rPr lang="zh-CN" altLang="en-US" sz="2400" dirty="0"/>
              <a:t>致“视像断裂”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1ED5E3-A88B-6BEE-A2AD-9F97EFBB257A}"/>
              </a:ext>
            </a:extLst>
          </p:cNvPr>
          <p:cNvSpPr txBox="1"/>
          <p:nvPr/>
        </p:nvSpPr>
        <p:spPr>
          <a:xfrm>
            <a:off x="9961265" y="6476999"/>
            <a:ext cx="5181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渐进多焦镜片</a:t>
            </a:r>
          </a:p>
          <a:p>
            <a:pPr algn="ctr"/>
            <a:r>
              <a:rPr lang="zh-CN" altLang="en-US" sz="2400" dirty="0"/>
              <a:t>无缝融合a(视远区)、b(视近区)、c(渐</a:t>
            </a:r>
          </a:p>
          <a:p>
            <a:pPr algn="ctr"/>
            <a:r>
              <a:rPr lang="zh-CN" altLang="en-US" sz="2400" dirty="0"/>
              <a:t>变区)与 d(周边区)。屈光度循序渐进</a:t>
            </a:r>
          </a:p>
          <a:p>
            <a:pPr algn="ctr"/>
            <a:r>
              <a:rPr lang="zh-CN" altLang="en-US" sz="2400" dirty="0"/>
              <a:t>过渡。</a:t>
            </a:r>
          </a:p>
        </p:txBody>
      </p:sp>
    </p:spTree>
    <p:extLst>
      <p:ext uri="{BB962C8B-B14F-4D97-AF65-F5344CB8AC3E}">
        <p14:creationId xmlns:p14="http://schemas.microsoft.com/office/powerpoint/2010/main" val="4194344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6437984-778C-C5A1-8A46-027FEFF22A60}"/>
              </a:ext>
            </a:extLst>
          </p:cNvPr>
          <p:cNvSpPr txBox="1"/>
          <p:nvPr/>
        </p:nvSpPr>
        <p:spPr>
          <a:xfrm>
            <a:off x="1422400" y="649069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球镜与柱镜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8A872B9-AB28-CAE2-58E9-36110F84D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811972"/>
              </p:ext>
            </p:extLst>
          </p:nvPr>
        </p:nvGraphicFramePr>
        <p:xfrm>
          <a:off x="1422400" y="1752600"/>
          <a:ext cx="13335000" cy="63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4565">
                  <a:extLst>
                    <a:ext uri="{9D8B030D-6E8A-4147-A177-3AD203B41FA5}">
                      <a16:colId xmlns:a16="http://schemas.microsoft.com/office/drawing/2014/main" val="1182713294"/>
                    </a:ext>
                  </a:extLst>
                </a:gridCol>
                <a:gridCol w="6460435">
                  <a:extLst>
                    <a:ext uri="{9D8B030D-6E8A-4147-A177-3AD203B41FA5}">
                      <a16:colId xmlns:a16="http://schemas.microsoft.com/office/drawing/2014/main" val="2816535675"/>
                    </a:ext>
                  </a:extLst>
                </a:gridCol>
              </a:tblGrid>
              <a:tr h="4970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</a:rPr>
                        <a:t>球镜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</a:rPr>
                        <a:t>柱镜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854977"/>
                  </a:ext>
                </a:extLst>
              </a:tr>
              <a:tr h="4151194">
                <a:tc>
                  <a:txBody>
                    <a:bodyPr/>
                    <a:lstStyle/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r>
                        <a:rPr lang="zh-CN" altLang="en-US" sz="2400" dirty="0"/>
                        <a:t>凸透镜                      凹透镜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r>
                        <a:rPr lang="zh-CN" altLang="en-US" sz="2400" dirty="0"/>
                        <a:t> 正柱面透镜                        负柱面透镜</a:t>
                      </a:r>
                      <a:endParaRPr lang="en-US" altLang="zh-C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493614"/>
                  </a:ext>
                </a:extLst>
              </a:tr>
              <a:tr h="1689820">
                <a:tc>
                  <a:txBody>
                    <a:bodyPr/>
                    <a:lstStyle/>
                    <a:p>
                      <a:pPr algn="ctr"/>
                      <a:endParaRPr lang="en-US" altLang="zh-CN" sz="2400" dirty="0"/>
                    </a:p>
                    <a:p>
                      <a:pPr algn="ctr"/>
                      <a:endParaRPr lang="en-US" altLang="zh-CN" sz="2400" dirty="0"/>
                    </a:p>
                    <a:p>
                      <a:pPr algn="ctr"/>
                      <a:r>
                        <a:rPr lang="zh-CN" altLang="en-US" sz="2400" dirty="0"/>
                        <a:t>各个方向上的曲率和屈光力完全相同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轴向主子午线：与轴向平行的方向。在轴向上屈光力为零。</a:t>
                      </a:r>
                      <a:endParaRPr lang="en-US" altLang="zh-CN" sz="2400" dirty="0"/>
                    </a:p>
                    <a:p>
                      <a:pPr algn="ctr"/>
                      <a:r>
                        <a:rPr lang="zh-CN" altLang="en-US" sz="2400" dirty="0"/>
                        <a:t>屈光力主子午线：与轴向相垂直的方向。在垂直的方向上屈光力为最大。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047932"/>
                  </a:ext>
                </a:extLst>
              </a:tr>
            </a:tbl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4EFE28E5-3948-EDDB-1D62-0081319EA32D}"/>
              </a:ext>
            </a:extLst>
          </p:cNvPr>
          <p:cNvGrpSpPr/>
          <p:nvPr/>
        </p:nvGrpSpPr>
        <p:grpSpPr>
          <a:xfrm>
            <a:off x="2032000" y="2667000"/>
            <a:ext cx="5725141" cy="2635291"/>
            <a:chOff x="1425303" y="3040277"/>
            <a:chExt cx="5228754" cy="208501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4F07FD2-6FDB-BBC3-AC69-45DF48A12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5303" y="3040277"/>
              <a:ext cx="2627604" cy="2085013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BC48F02-37C7-4D0E-DBF4-69EEBEE70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1800" y="3040277"/>
              <a:ext cx="2412257" cy="2085013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B59D52B-9CD5-C40B-9831-85538D2E79E9}"/>
              </a:ext>
            </a:extLst>
          </p:cNvPr>
          <p:cNvGrpSpPr/>
          <p:nvPr/>
        </p:nvGrpSpPr>
        <p:grpSpPr>
          <a:xfrm>
            <a:off x="8737600" y="2667000"/>
            <a:ext cx="5648940" cy="2635291"/>
            <a:chOff x="7712919" y="3276600"/>
            <a:chExt cx="4896722" cy="2085013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89CF24A-6349-DFE3-EE22-3AD67BEE9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12919" y="3276600"/>
              <a:ext cx="2292477" cy="2085013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63D513B-7864-660B-CA73-B8201D8EE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85400" y="3276600"/>
              <a:ext cx="2424241" cy="20850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359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653E637-6CDF-CFB6-3D6A-C37EE685E81F}"/>
              </a:ext>
            </a:extLst>
          </p:cNvPr>
          <p:cNvSpPr txBox="1"/>
          <p:nvPr/>
        </p:nvSpPr>
        <p:spPr>
          <a:xfrm>
            <a:off x="1346200" y="914399"/>
            <a:ext cx="495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眼镜片的参数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A27272A-0E96-85FD-4F88-63C485452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6058"/>
              </p:ext>
            </p:extLst>
          </p:nvPr>
        </p:nvGraphicFramePr>
        <p:xfrm>
          <a:off x="1460499" y="2057400"/>
          <a:ext cx="13335001" cy="6096001"/>
        </p:xfrm>
        <a:graphic>
          <a:graphicData uri="http://schemas.openxmlformats.org/drawingml/2006/table">
            <a:tbl>
              <a:tblPr firstRow="1" firstCol="1" bandRow="1"/>
              <a:tblGrid>
                <a:gridCol w="1534190">
                  <a:extLst>
                    <a:ext uri="{9D8B030D-6E8A-4147-A177-3AD203B41FA5}">
                      <a16:colId xmlns:a16="http://schemas.microsoft.com/office/drawing/2014/main" val="4285917653"/>
                    </a:ext>
                  </a:extLst>
                </a:gridCol>
                <a:gridCol w="1277795">
                  <a:extLst>
                    <a:ext uri="{9D8B030D-6E8A-4147-A177-3AD203B41FA5}">
                      <a16:colId xmlns:a16="http://schemas.microsoft.com/office/drawing/2014/main" val="2917532487"/>
                    </a:ext>
                  </a:extLst>
                </a:gridCol>
                <a:gridCol w="6988784">
                  <a:extLst>
                    <a:ext uri="{9D8B030D-6E8A-4147-A177-3AD203B41FA5}">
                      <a16:colId xmlns:a16="http://schemas.microsoft.com/office/drawing/2014/main" val="4221440119"/>
                    </a:ext>
                  </a:extLst>
                </a:gridCol>
                <a:gridCol w="3534232">
                  <a:extLst>
                    <a:ext uri="{9D8B030D-6E8A-4147-A177-3AD203B41FA5}">
                      <a16:colId xmlns:a16="http://schemas.microsoft.com/office/drawing/2014/main" val="3712607704"/>
                    </a:ext>
                  </a:extLst>
                </a:gridCol>
              </a:tblGrid>
              <a:tr h="76789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名称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符号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定义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单位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907407"/>
                  </a:ext>
                </a:extLst>
              </a:tr>
              <a:tr h="8638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顶焦度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镜片后顶点到焦点距离的倒数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屈光度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(m-1)D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667605"/>
                  </a:ext>
                </a:extLst>
              </a:tr>
              <a:tr h="8638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球镜度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球镜镜片的后顶焦度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屈光度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(m-1)D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886860"/>
                  </a:ext>
                </a:extLst>
              </a:tr>
              <a:tr h="89355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棱镜度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光线通过镜片某一特定点后产生的偏折距离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棱镜屈光度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(cm/m) 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△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380364"/>
                  </a:ext>
                </a:extLst>
              </a:tr>
              <a:tr h="8638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柱镜度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柱镜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镜片的两个顶焦度</a:t>
                      </a:r>
                      <a:r>
                        <a:rPr lang="zh-CN" alt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差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屈光度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(m-1)D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319064"/>
                  </a:ext>
                </a:extLst>
              </a:tr>
              <a:tr h="92146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轴位角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el-GR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θ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柱镜</a:t>
                      </a:r>
                      <a:r>
                        <a:rPr lang="zh-CN" alt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镜片</a:t>
                      </a:r>
                      <a:r>
                        <a:rPr lang="zh-CN" alt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的最小</a:t>
                      </a:r>
                      <a:r>
                        <a:rPr lang="zh-CN" alt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顶焦度的主子午线的方向角，采用</a:t>
                      </a:r>
                      <a:r>
                        <a:rPr lang="en-US" alt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 action="ppaction://hlinksldjump"/>
                        </a:rPr>
                        <a:t>TABO</a:t>
                      </a:r>
                      <a:r>
                        <a:rPr lang="zh-CN" alt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标记法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度°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305385"/>
                  </a:ext>
                </a:extLst>
              </a:tr>
              <a:tr h="92146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阿贝数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衡量透明或半透明介质色散程度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036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29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3604BDA-A252-3308-EF20-8A87769F6919}"/>
              </a:ext>
            </a:extLst>
          </p:cNvPr>
          <p:cNvSpPr txBox="1"/>
          <p:nvPr/>
        </p:nvSpPr>
        <p:spPr>
          <a:xfrm>
            <a:off x="1270000" y="609600"/>
            <a:ext cx="281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参数求解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214B25-C0BF-7824-4890-4F78D8F18DC4}"/>
              </a:ext>
            </a:extLst>
          </p:cNvPr>
          <p:cNvSpPr txBox="1"/>
          <p:nvPr/>
        </p:nvSpPr>
        <p:spPr>
          <a:xfrm>
            <a:off x="1269999" y="1524000"/>
            <a:ext cx="12859657" cy="250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1</a:t>
            </a:r>
            <a:r>
              <a:rPr lang="zh-CN" altLang="en-US" sz="2800" dirty="0"/>
              <a:t>、光路示意图</a:t>
            </a:r>
            <a:endParaRPr lang="en-US" altLang="zh-CN" sz="2800" dirty="0"/>
          </a:p>
          <a:p>
            <a:pPr indent="720000">
              <a:lnSpc>
                <a:spcPct val="150000"/>
              </a:lnSpc>
            </a:pPr>
            <a:r>
              <a:rPr lang="zh-CN" altLang="zh-CN" sz="24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光阑</a:t>
            </a:r>
            <a:r>
              <a:rPr lang="zh-CN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将一个完整的波前划分成若干个小区域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通过比较待测镜片放置前后相应点的偏移量，从而计算出镜片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屈光力分布。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en-US" altLang="zh-CN" sz="3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57BB61-C056-5765-0B0E-EAD7E5589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18" y="4114800"/>
            <a:ext cx="5506781" cy="38790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EDB1FF-8F96-9F32-F405-6D5FBCCE6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483" y="4477268"/>
            <a:ext cx="4675032" cy="32859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B22911-80A7-B405-9878-6676284AE6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725" y="4604732"/>
            <a:ext cx="3083477" cy="304848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934C39E-23AB-3F69-5347-359CA58E9750}"/>
              </a:ext>
            </a:extLst>
          </p:cNvPr>
          <p:cNvSpPr txBox="1"/>
          <p:nvPr/>
        </p:nvSpPr>
        <p:spPr>
          <a:xfrm>
            <a:off x="12319000" y="8072734"/>
            <a:ext cx="19362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2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哈特曼光阑</a:t>
            </a:r>
            <a:endParaRPr lang="zh-CN" altLang="en-US" sz="2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5E3E98-A4F8-EA0C-1470-D56B2D2007FA}"/>
              </a:ext>
            </a:extLst>
          </p:cNvPr>
          <p:cNvSpPr txBox="1"/>
          <p:nvPr/>
        </p:nvSpPr>
        <p:spPr>
          <a:xfrm>
            <a:off x="1678908" y="8072735"/>
            <a:ext cx="35814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2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镜片参数测量光路系统</a:t>
            </a:r>
            <a:endParaRPr lang="zh-CN" altLang="en-US" sz="2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0D84C7-EFB1-4D9C-EF9F-EDB4EBD44290}"/>
              </a:ext>
            </a:extLst>
          </p:cNvPr>
          <p:cNvSpPr txBox="1"/>
          <p:nvPr/>
        </p:nvSpPr>
        <p:spPr>
          <a:xfrm>
            <a:off x="7852226" y="8072735"/>
            <a:ext cx="14949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测量</a:t>
            </a:r>
            <a:r>
              <a:rPr lang="zh-CN" altLang="zh-CN" sz="22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光路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746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55289D9-509E-5673-14F6-636EF86CB5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906" r="-4844" b="-3782"/>
          <a:stretch>
            <a:fillRect/>
          </a:stretch>
        </p:blipFill>
        <p:spPr>
          <a:xfrm>
            <a:off x="-635000" y="228600"/>
            <a:ext cx="17678400" cy="9410700"/>
          </a:xfrm>
          <a:custGeom>
            <a:avLst/>
            <a:gdLst>
              <a:gd name="connsiteX0" fmla="*/ 0 w 17678400"/>
              <a:gd name="connsiteY0" fmla="*/ 8724900 h 9410700"/>
              <a:gd name="connsiteX1" fmla="*/ 635000 w 17678400"/>
              <a:gd name="connsiteY1" fmla="*/ 8724900 h 9410700"/>
              <a:gd name="connsiteX2" fmla="*/ 635000 w 17678400"/>
              <a:gd name="connsiteY2" fmla="*/ 9067800 h 9410700"/>
              <a:gd name="connsiteX3" fmla="*/ 16891000 w 17678400"/>
              <a:gd name="connsiteY3" fmla="*/ 9067800 h 9410700"/>
              <a:gd name="connsiteX4" fmla="*/ 16891000 w 17678400"/>
              <a:gd name="connsiteY4" fmla="*/ 8724900 h 9410700"/>
              <a:gd name="connsiteX5" fmla="*/ 17678400 w 17678400"/>
              <a:gd name="connsiteY5" fmla="*/ 8724900 h 9410700"/>
              <a:gd name="connsiteX6" fmla="*/ 17678400 w 17678400"/>
              <a:gd name="connsiteY6" fmla="*/ 9410700 h 9410700"/>
              <a:gd name="connsiteX7" fmla="*/ 0 w 17678400"/>
              <a:gd name="connsiteY7" fmla="*/ 9410700 h 9410700"/>
              <a:gd name="connsiteX8" fmla="*/ 635000 w 17678400"/>
              <a:gd name="connsiteY8" fmla="*/ 0 h 9410700"/>
              <a:gd name="connsiteX9" fmla="*/ 16891000 w 17678400"/>
              <a:gd name="connsiteY9" fmla="*/ 0 h 9410700"/>
              <a:gd name="connsiteX10" fmla="*/ 16891000 w 17678400"/>
              <a:gd name="connsiteY10" fmla="*/ 8724900 h 9410700"/>
              <a:gd name="connsiteX11" fmla="*/ 635000 w 17678400"/>
              <a:gd name="connsiteY11" fmla="*/ 8724900 h 94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678400" h="9410700">
                <a:moveTo>
                  <a:pt x="0" y="8724900"/>
                </a:moveTo>
                <a:lnTo>
                  <a:pt x="635000" y="8724900"/>
                </a:lnTo>
                <a:lnTo>
                  <a:pt x="635000" y="9067800"/>
                </a:lnTo>
                <a:lnTo>
                  <a:pt x="16891000" y="9067800"/>
                </a:lnTo>
                <a:lnTo>
                  <a:pt x="16891000" y="8724900"/>
                </a:lnTo>
                <a:lnTo>
                  <a:pt x="17678400" y="8724900"/>
                </a:lnTo>
                <a:lnTo>
                  <a:pt x="17678400" y="9410700"/>
                </a:lnTo>
                <a:lnTo>
                  <a:pt x="0" y="9410700"/>
                </a:lnTo>
                <a:close/>
                <a:moveTo>
                  <a:pt x="635000" y="0"/>
                </a:moveTo>
                <a:lnTo>
                  <a:pt x="16891000" y="0"/>
                </a:lnTo>
                <a:lnTo>
                  <a:pt x="16891000" y="8724900"/>
                </a:lnTo>
                <a:lnTo>
                  <a:pt x="635000" y="87249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3520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C47EA9BC-FEA9-8739-1A68-C4B6A6BAD4AC}"/>
              </a:ext>
            </a:extLst>
          </p:cNvPr>
          <p:cNvSpPr txBox="1"/>
          <p:nvPr/>
        </p:nvSpPr>
        <p:spPr>
          <a:xfrm>
            <a:off x="1270000" y="609600"/>
            <a:ext cx="281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参数求解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A61E12-AF7D-7403-B921-4F86ACD7FDEA}"/>
              </a:ext>
            </a:extLst>
          </p:cNvPr>
          <p:cNvSpPr txBox="1"/>
          <p:nvPr/>
        </p:nvSpPr>
        <p:spPr>
          <a:xfrm>
            <a:off x="1270000" y="1754962"/>
            <a:ext cx="12859657" cy="1783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2</a:t>
            </a:r>
            <a:r>
              <a:rPr lang="zh-CN" altLang="en-US" sz="2800" dirty="0"/>
              <a:t>、棱镜度</a:t>
            </a:r>
            <a:endParaRPr lang="en-US" altLang="zh-CN" sz="2800" dirty="0"/>
          </a:p>
          <a:p>
            <a:pPr indent="720000">
              <a:lnSpc>
                <a:spcPct val="150000"/>
              </a:lnSpc>
            </a:pPr>
            <a:r>
              <a:rPr lang="zh-CN" altLang="en-US" sz="2400" dirty="0"/>
              <a:t>棱镜能将光线向基底偏折，其偏折角的大小用棱镜度衡量，定义为光线偏折后，在距离棱镜</a:t>
            </a:r>
            <a:r>
              <a:rPr lang="en-US" altLang="zh-CN" sz="2400" dirty="0"/>
              <a:t>1m</a:t>
            </a:r>
            <a:r>
              <a:rPr lang="zh-CN" altLang="en-US" sz="2400" dirty="0"/>
              <a:t>处，偏离原始入射方向的厘米数。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23C84C-8C53-044F-F1F8-80F022A70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00" y="3841926"/>
            <a:ext cx="3962400" cy="315779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74D0EEC-2440-58C3-CC33-D0FDB1D23DC0}"/>
              </a:ext>
            </a:extLst>
          </p:cNvPr>
          <p:cNvSpPr txBox="1"/>
          <p:nvPr/>
        </p:nvSpPr>
        <p:spPr>
          <a:xfrm>
            <a:off x="6985000" y="7237472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棱镜度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08992AE-3A01-BF84-9851-A1F7A5075436}"/>
              </a:ext>
            </a:extLst>
          </p:cNvPr>
          <p:cNvGrpSpPr/>
          <p:nvPr/>
        </p:nvGrpSpPr>
        <p:grpSpPr>
          <a:xfrm>
            <a:off x="3637279" y="7906110"/>
            <a:ext cx="8958220" cy="668516"/>
            <a:chOff x="3637279" y="7906110"/>
            <a:chExt cx="8958220" cy="6685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7FDF159-5FEC-57CB-8612-B1ED1032665C}"/>
                    </a:ext>
                  </a:extLst>
                </p:cNvPr>
                <p:cNvSpPr txBox="1"/>
                <p:nvPr/>
              </p:nvSpPr>
              <p:spPr>
                <a:xfrm>
                  <a:off x="3637279" y="7906110"/>
                  <a:ext cx="8125096" cy="6685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zh-CN" altLang="en-US" sz="2000" i="0">
                            <a:latin typeface="Cambria Math" panose="02040503050406030204" pitchFamily="18" charset="0"/>
                          </a:rPr>
                          <m:t>=100</m:t>
                        </m:r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zh-CN" altLang="en-US" sz="2000" i="0">
                            <a:latin typeface="Cambria Math" panose="02040503050406030204" pitchFamily="18" charset="0"/>
                          </a:rPr>
                          <m:t>=100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𝑇𝐹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7FDF159-5FEC-57CB-8612-B1ED103266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279" y="7906110"/>
                  <a:ext cx="8125096" cy="6685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DFB5B87-4ECA-5D6E-449B-6E7875B924BE}"/>
                </a:ext>
              </a:extLst>
            </p:cNvPr>
            <p:cNvSpPr txBox="1"/>
            <p:nvPr/>
          </p:nvSpPr>
          <p:spPr>
            <a:xfrm>
              <a:off x="11769632" y="8093982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+mn-ea"/>
                </a:rPr>
                <a:t>（</a:t>
              </a:r>
              <a:r>
                <a:rPr lang="en-US" altLang="zh-CN" sz="2000" dirty="0">
                  <a:latin typeface="+mn-ea"/>
                </a:rPr>
                <a:t>1</a:t>
              </a:r>
              <a:r>
                <a:rPr lang="zh-CN" altLang="en-US" sz="2000" dirty="0">
                  <a:latin typeface="+mn-ea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702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F6C83F-AAD0-978E-705D-4B024160CE00}"/>
              </a:ext>
            </a:extLst>
          </p:cNvPr>
          <p:cNvSpPr txBox="1"/>
          <p:nvPr/>
        </p:nvSpPr>
        <p:spPr>
          <a:xfrm>
            <a:off x="1270000" y="609600"/>
            <a:ext cx="281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参数求解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A8418C-5904-0676-D3FD-E164FFF5112D}"/>
              </a:ext>
            </a:extLst>
          </p:cNvPr>
          <p:cNvSpPr txBox="1"/>
          <p:nvPr/>
        </p:nvSpPr>
        <p:spPr>
          <a:xfrm>
            <a:off x="1269999" y="1524000"/>
            <a:ext cx="12859657" cy="2337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2</a:t>
            </a:r>
            <a:r>
              <a:rPr lang="zh-CN" altLang="en-US" sz="2800" dirty="0"/>
              <a:t>、棱镜度</a:t>
            </a:r>
            <a:endParaRPr lang="en-US" altLang="zh-CN" sz="2800" dirty="0"/>
          </a:p>
          <a:p>
            <a:pPr marL="0" marR="0" lvl="0" indent="7200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眼镜片可以看作是由无数个不同方向、不同屈光力大小的棱镜组成，镜片上任一点对光线的偏折度用该点的棱镜度表示。球面透镜是相对于光轴中心对称的棱镜阵列；柱面透镜则是相对于轴向主子午线对称的棱镜阵列</a:t>
            </a:r>
            <a:r>
              <a:rPr lang="zh-CN" altLang="en-US" sz="24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0CB3307-3112-35A0-673C-2F765DA02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4488256"/>
            <a:ext cx="8382000" cy="344979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13CB01C-B53D-B546-ACE7-6CD7BA27E7AE}"/>
              </a:ext>
            </a:extLst>
          </p:cNvPr>
          <p:cNvSpPr txBox="1"/>
          <p:nvPr/>
        </p:nvSpPr>
        <p:spPr>
          <a:xfrm>
            <a:off x="6709227" y="8206122"/>
            <a:ext cx="198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眼镜片分解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9721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65B3301-6E9D-B4B9-93D9-2016F7278883}"/>
              </a:ext>
            </a:extLst>
          </p:cNvPr>
          <p:cNvSpPr txBox="1"/>
          <p:nvPr/>
        </p:nvSpPr>
        <p:spPr>
          <a:xfrm>
            <a:off x="1270000" y="609600"/>
            <a:ext cx="281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参数求解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7FCC35-A0AE-98D3-8A76-AC5704BC2551}"/>
              </a:ext>
            </a:extLst>
          </p:cNvPr>
          <p:cNvSpPr txBox="1"/>
          <p:nvPr/>
        </p:nvSpPr>
        <p:spPr>
          <a:xfrm>
            <a:off x="11442700" y="4413106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屈光力分解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DCFDC7E-8BD4-8E12-2B42-8FAED8F16408}"/>
              </a:ext>
            </a:extLst>
          </p:cNvPr>
          <p:cNvGrpSpPr/>
          <p:nvPr/>
        </p:nvGrpSpPr>
        <p:grpSpPr>
          <a:xfrm>
            <a:off x="1270000" y="1492145"/>
            <a:ext cx="7848601" cy="6546279"/>
            <a:chOff x="1270000" y="1298860"/>
            <a:chExt cx="7848601" cy="6546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3DADC78-6B82-7EF8-841A-62A9888FD88F}"/>
                    </a:ext>
                  </a:extLst>
                </p:cNvPr>
                <p:cNvSpPr txBox="1"/>
                <p:nvPr/>
              </p:nvSpPr>
              <p:spPr>
                <a:xfrm>
                  <a:off x="1270000" y="1298860"/>
                  <a:ext cx="7848601" cy="65462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2800" dirty="0"/>
                    <a:t>3</a:t>
                  </a:r>
                  <a:r>
                    <a:rPr lang="zh-CN" altLang="en-US" sz="2800" dirty="0"/>
                    <a:t>、眼镜片的屈光力</a:t>
                  </a:r>
                  <a:endParaRPr lang="en-US" altLang="zh-CN" sz="2800" dirty="0"/>
                </a:p>
                <a:p>
                  <a:pPr indent="720000">
                    <a:lnSpc>
                      <a:spcPct val="150000"/>
                    </a:lnSpc>
                  </a:pPr>
                  <a:r>
                    <a:rPr lang="zh-CN" altLang="en-US" sz="2400" dirty="0"/>
                    <a:t>散光镜片可看作球镜镜片和柱镜镜片的组合，表示为 “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𝐷𝑆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𝐷𝐶𝑋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l-GR" altLang="zh-CN" sz="2400" dirty="0"/>
                    <a:t>”</a:t>
                  </a:r>
                  <a:r>
                    <a:rPr lang="zh-CN" altLang="en-US" sz="2400" dirty="0"/>
                    <a:t>，球镜镜片是柱镜度为零的特殊的散光镜片。</a:t>
                  </a:r>
                  <a:endParaRPr lang="en-US" altLang="zh-CN" sz="2400" dirty="0"/>
                </a:p>
                <a:p>
                  <a:pPr indent="720000">
                    <a:lnSpc>
                      <a:spcPct val="150000"/>
                    </a:lnSpc>
                  </a:pPr>
                  <a:r>
                    <a:rPr lang="zh-CN" altLang="en-US" sz="2400" dirty="0">
                      <a:latin typeface="+mj-ea"/>
                      <a:ea typeface="+mj-ea"/>
                    </a:rPr>
                    <a:t>设</a:t>
                  </a:r>
                  <a:r>
                    <a:rPr lang="en-US" altLang="zh-CN" sz="2400" i="1" dirty="0">
                      <a:latin typeface="Cambria Math" panose="02040503050406030204" pitchFamily="18" charset="0"/>
                    </a:rPr>
                    <a:t>G</a:t>
                  </a:r>
                  <a:r>
                    <a:rPr lang="zh-CN" altLang="en-US" sz="2400" dirty="0">
                      <a:latin typeface="+mj-ea"/>
                      <a:ea typeface="+mj-ea"/>
                    </a:rPr>
                    <a:t>点坐标为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a14:m>
                  <a:r>
                    <a:rPr lang="zh-CN" altLang="en-US" sz="2400" dirty="0">
                      <a:latin typeface="+mj-ea"/>
                      <a:ea typeface="+mj-ea"/>
                    </a:rPr>
                    <a:t>如图</a:t>
                  </a:r>
                  <a:r>
                    <a:rPr lang="en-US" altLang="zh-CN" sz="2400" dirty="0">
                      <a:latin typeface="+mj-ea"/>
                      <a:ea typeface="+mj-ea"/>
                    </a:rPr>
                    <a:t>4</a:t>
                  </a:r>
                  <a:r>
                    <a:rPr lang="zh-CN" altLang="en-US" sz="2400" dirty="0">
                      <a:latin typeface="+mj-ea"/>
                      <a:ea typeface="+mj-ea"/>
                    </a:rPr>
                    <a:t>所示镜片在</a:t>
                  </a:r>
                  <a:r>
                    <a:rPr lang="en-US" altLang="zh-CN" sz="2400" i="1" dirty="0" err="1">
                      <a:latin typeface="Cambria Math" panose="02040503050406030204" pitchFamily="18" charset="0"/>
                    </a:rPr>
                    <a:t>xoz</a:t>
                  </a:r>
                  <a:r>
                    <a:rPr lang="zh-CN" altLang="en-US" sz="2400" dirty="0">
                      <a:latin typeface="+mj-ea"/>
                      <a:ea typeface="+mj-ea"/>
                    </a:rPr>
                    <a:t>子午面与</a:t>
                  </a:r>
                  <a:r>
                    <a:rPr lang="en-US" altLang="zh-CN" sz="2400" i="1" dirty="0" err="1">
                      <a:latin typeface="Cambria Math" panose="02040503050406030204" pitchFamily="18" charset="0"/>
                    </a:rPr>
                    <a:t>yoz</a:t>
                  </a:r>
                  <a:r>
                    <a:rPr lang="zh-CN" altLang="en-US" sz="2400" dirty="0">
                      <a:latin typeface="+mj-ea"/>
                      <a:ea typeface="+mj-ea"/>
                    </a:rPr>
                    <a:t>子午面上的屈光力为</a:t>
                  </a:r>
                  <a:endParaRPr lang="en-US" altLang="zh-CN" sz="2400" dirty="0">
                    <a:latin typeface="+mj-ea"/>
                    <a:ea typeface="+mj-ea"/>
                  </a:endParaRPr>
                </a:p>
                <a:p>
                  <a:pPr indent="7200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box>
                                  <m:box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box>
                                          <m:boxPr>
                                            <m:ctrlP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box>
                                      </m:sub>
                                    </m:sSub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box>
                                          <m:boxPr>
                                            <m:ctrlP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</m:box>
                                      </m:sub>
                                    </m:sSub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box>
                                          <m:boxPr>
                                            <m:ctrlP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</m:box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box>
                                          <m:boxPr>
                                            <m:ctrlP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r>
                                              <a:rPr lang="en-US" altLang="zh-CN" sz="200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box>
                                      </m:sup>
                                    </m:s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box>
                              </m:den>
                            </m:f>
                          </m:e>
                        </m:d>
                      </m:oMath>
                    </m:oMathPara>
                  </a14:m>
                  <a:endParaRPr lang="zh-CN" altLang="en-US" sz="2400" dirty="0">
                    <a:latin typeface="+mj-ea"/>
                    <a:ea typeface="+mj-ea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/>
                </a:p>
                <a:p>
                  <a:pPr indent="720000">
                    <a:lnSpc>
                      <a:spcPct val="150000"/>
                    </a:lnSpc>
                  </a:pPr>
                  <a:r>
                    <a:rPr lang="zh-CN" altLang="en-US" sz="2400" dirty="0"/>
                    <a:t>此时，对球镜镜片而言，</a:t>
                  </a:r>
                  <a:r>
                    <a:rPr lang="en-US" altLang="zh-CN" sz="2400" dirty="0"/>
                    <a:t>e</a:t>
                  </a:r>
                  <a:r>
                    <a:rPr lang="zh-CN" altLang="en-US" sz="2400" dirty="0"/>
                    <a:t>是</a:t>
                  </a:r>
                  <a:r>
                    <a:rPr lang="en-US" altLang="zh-CN" sz="2400" dirty="0"/>
                    <a:t>G</a:t>
                  </a:r>
                  <a:r>
                    <a:rPr lang="zh-CN" altLang="en-US" sz="2400" dirty="0"/>
                    <a:t>点到光心的距离；对柱镜镜片而言，</a:t>
                  </a:r>
                  <a:r>
                    <a:rPr lang="en-US" altLang="zh-CN" sz="2400" dirty="0"/>
                    <a:t>e</a:t>
                  </a:r>
                  <a:r>
                    <a:rPr lang="zh-CN" altLang="en-US" sz="2400" dirty="0"/>
                    <a:t>是</a:t>
                  </a:r>
                  <a:r>
                    <a:rPr lang="en-US" altLang="zh-CN" sz="2400" dirty="0"/>
                    <a:t>G</a:t>
                  </a:r>
                  <a:r>
                    <a:rPr lang="zh-CN" altLang="en-US" sz="2400" dirty="0"/>
                    <a:t>点到柱镜轴的垂直距离。</a:t>
                  </a: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3DADC78-6B82-7EF8-841A-62A9888FD8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000" y="1298860"/>
                  <a:ext cx="7848601" cy="6546279"/>
                </a:xfrm>
                <a:prstGeom prst="rect">
                  <a:avLst/>
                </a:prstGeom>
                <a:blipFill>
                  <a:blip r:embed="rId2"/>
                  <a:stretch>
                    <a:fillRect l="-15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8E10B0A-AFF3-075D-EC9E-4F567570EA62}"/>
                </a:ext>
              </a:extLst>
            </p:cNvPr>
            <p:cNvSpPr txBox="1"/>
            <p:nvPr/>
          </p:nvSpPr>
          <p:spPr>
            <a:xfrm>
              <a:off x="7650144" y="5216915"/>
              <a:ext cx="8274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hlinkClick r:id="rId3" action="ppaction://hlinksldjump"/>
                </a:rPr>
                <a:t>（</a:t>
              </a:r>
              <a:r>
                <a:rPr lang="en-US" altLang="zh-CN" sz="2000" dirty="0">
                  <a:hlinkClick r:id="rId3" action="ppaction://hlinksldjump"/>
                </a:rPr>
                <a:t>2</a:t>
              </a:r>
              <a:r>
                <a:rPr lang="zh-CN" altLang="en-US" sz="2000" dirty="0">
                  <a:hlinkClick r:id="rId3" action="ppaction://hlinksldjump"/>
                </a:rPr>
                <a:t>）</a:t>
              </a:r>
              <a:endParaRPr lang="zh-CN" altLang="en-US" sz="2000" dirty="0"/>
            </a:p>
          </p:txBody>
        </p:sp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73531453-A0A9-2FC6-7888-E49C490C5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800" y="5181600"/>
            <a:ext cx="5811464" cy="2599866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F2F746EB-ABDE-D48F-4B91-96586495883D}"/>
              </a:ext>
            </a:extLst>
          </p:cNvPr>
          <p:cNvSpPr txBox="1"/>
          <p:nvPr/>
        </p:nvSpPr>
        <p:spPr>
          <a:xfrm>
            <a:off x="11328400" y="7807592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眼镜镜片的棱镜度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2F8C679-AFC1-58AD-BCC5-6F49D6B9B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800" y="382062"/>
            <a:ext cx="3712210" cy="387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82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850BCA79-4C20-7A4B-2A41-3D36E7799667}"/>
              </a:ext>
            </a:extLst>
          </p:cNvPr>
          <p:cNvGrpSpPr/>
          <p:nvPr/>
        </p:nvGrpSpPr>
        <p:grpSpPr>
          <a:xfrm>
            <a:off x="812800" y="493965"/>
            <a:ext cx="10210800" cy="8313616"/>
            <a:chOff x="812800" y="493965"/>
            <a:chExt cx="8763000" cy="8313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64A3746-BC74-8529-CC27-880882D7C838}"/>
                    </a:ext>
                  </a:extLst>
                </p:cNvPr>
                <p:cNvSpPr txBox="1"/>
                <p:nvPr/>
              </p:nvSpPr>
              <p:spPr>
                <a:xfrm>
                  <a:off x="812800" y="493965"/>
                  <a:ext cx="8763000" cy="72495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indent="720000">
                    <a:lnSpc>
                      <a:spcPct val="150000"/>
                    </a:lnSpc>
                  </a:pPr>
                  <a:r>
                    <a:rPr lang="zh-CN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当θ≤</a:t>
                  </a:r>
                  <a:r>
                    <a:rPr lang="en-US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90</a:t>
                  </a:r>
                  <a:r>
                    <a:rPr lang="zh-CN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°时，</a:t>
                  </a:r>
                  <a:r>
                    <a:rPr lang="en-US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G</a:t>
                  </a:r>
                  <a:r>
                    <a:rPr lang="zh-CN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点的棱镜度在</a:t>
                  </a:r>
                  <a:r>
                    <a:rPr lang="en-US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zh-CN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、</a:t>
                  </a:r>
                  <a:r>
                    <a:rPr lang="en-US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y</a:t>
                  </a:r>
                  <a:r>
                    <a:rPr lang="zh-CN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两个方向上的分量，有</a:t>
                  </a:r>
                  <a:endParaRPr lang="en-US" altLang="zh-CN" sz="2400" dirty="0">
                    <a:effectLst/>
                    <a:latin typeface="+mn-ea"/>
                    <a:cs typeface="Times New Roman" panose="02020603050405020304" pitchFamily="18" charset="0"/>
                  </a:endParaRPr>
                </a:p>
                <a:p>
                  <a:pPr indent="720000">
                    <a:lnSpc>
                      <a:spcPct val="150000"/>
                    </a:lnSpc>
                  </a:pPr>
                  <a:endParaRPr lang="en-US" altLang="zh-CN" sz="2400" dirty="0">
                    <a:latin typeface="+mn-ea"/>
                    <a:cs typeface="Times New Roman" panose="02020603050405020304" pitchFamily="18" charset="0"/>
                  </a:endParaRPr>
                </a:p>
                <a:p>
                  <a:pPr indent="720000">
                    <a:lnSpc>
                      <a:spcPct val="150000"/>
                    </a:lnSpc>
                  </a:pPr>
                  <a:endParaRPr lang="en-US" altLang="zh-CN" sz="2400" dirty="0">
                    <a:latin typeface="+mn-ea"/>
                    <a:cs typeface="Times New Roman" panose="02020603050405020304" pitchFamily="18" charset="0"/>
                  </a:endParaRPr>
                </a:p>
                <a:p>
                  <a:pPr indent="720000">
                    <a:lnSpc>
                      <a:spcPct val="150000"/>
                    </a:lnSpc>
                  </a:pPr>
                  <a:r>
                    <a:rPr lang="zh-CN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若是θ</a:t>
                  </a:r>
                  <a:r>
                    <a:rPr lang="en-US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&gt;90</a:t>
                  </a:r>
                  <a:r>
                    <a:rPr lang="zh-CN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°时，应用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180</m:t>
                          </m:r>
                        </m:e>
                        <m:sup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°</m:t>
                          </m:r>
                        </m:sup>
                      </m:sSup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</m:oMath>
                  </a14:m>
                  <a:r>
                    <a:rPr lang="zh-CN" altLang="zh-CN" sz="2400" dirty="0">
                      <a:effectLst/>
                      <a:latin typeface="+mn-ea"/>
                      <a:cs typeface="Times New Roman" panose="02020603050405020304" pitchFamily="18" charset="0"/>
                    </a:rPr>
                    <a:t>代替。</a:t>
                  </a:r>
                  <a:endParaRPr lang="zh-CN" altLang="en-US" sz="2400" dirty="0">
                    <a:latin typeface="+mn-ea"/>
                  </a:endParaRPr>
                </a:p>
                <a:p>
                  <a:pPr indent="720000">
                    <a:lnSpc>
                      <a:spcPct val="150000"/>
                    </a:lnSpc>
                  </a:pPr>
                  <a:r>
                    <a:rPr lang="zh-CN" altLang="en-US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球镜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使</a:t>
                  </a:r>
                  <a:r>
                    <a:rPr lang="zh-CN" altLang="zh-CN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光斑质心</a:t>
                  </a:r>
                  <a:r>
                    <a:rPr lang="zh-CN" altLang="en-US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对称收缩或扩张；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当置入柱镜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为正时，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4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个质心点移向柱镜轴；当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为负时，质心点远离柱镜轴；且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A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与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E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之间的距离等于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与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F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之间的距离，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与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G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之间的距离等于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D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与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H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之间的距离，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E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与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F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、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G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与</a:t>
                  </a:r>
                  <a:r>
                    <a:rPr lang="en-US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 H</a:t>
                  </a:r>
                  <a:r>
                    <a:rPr lang="zh-CN" altLang="zh-CN" sz="24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关于原点对称。</a:t>
                  </a:r>
                  <a:endParaRPr lang="en-US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indent="720000">
                    <a:lnSpc>
                      <a:spcPct val="150000"/>
                    </a:lnSpc>
                  </a:pPr>
                  <a:r>
                    <a:rPr lang="zh-CN" altLang="zh-CN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光阑上四个大孔坐标为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(0,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(0,−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(−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0)</m:t>
                      </m:r>
                      <m:r>
                        <a:rPr lang="zh-CN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0)</m:t>
                      </m:r>
                    </m:oMath>
                  </a14:m>
                  <a:r>
                    <a:rPr lang="zh-CN" altLang="zh-CN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，光阑与观察屏之间的距 离为</a:t>
                  </a:r>
                  <a:r>
                    <a:rPr lang="en-US" altLang="zh-CN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d</a:t>
                  </a:r>
                  <a:r>
                    <a:rPr lang="zh-CN" altLang="zh-CN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，被测镜片后表面与光阑之间的距离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𝑙</m:t>
                      </m:r>
                    </m:oMath>
                  </a14:m>
                  <a:r>
                    <a:rPr lang="zh-CN" altLang="zh-CN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远小于</a:t>
                  </a:r>
                  <a:r>
                    <a:rPr lang="en-US" altLang="zh-CN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d</a:t>
                  </a:r>
                  <a:r>
                    <a:rPr lang="zh-CN" altLang="zh-CN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，因此</a:t>
                  </a:r>
                  <a:r>
                    <a:rPr lang="zh-CN" altLang="en-US" sz="24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忽略不计</a:t>
                  </a:r>
                  <a:r>
                    <a:rPr lang="zh-CN" altLang="zh-CN" sz="2400" kern="100" dirty="0"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。</a:t>
                  </a:r>
                </a:p>
                <a:p>
                  <a:pPr indent="720000">
                    <a:lnSpc>
                      <a:spcPct val="150000"/>
                    </a:lnSpc>
                  </a:pPr>
                  <a:r>
                    <a:rPr lang="zh-CN" altLang="zh-CN" sz="2400" kern="100" dirty="0"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因此，四个小孔对应待测镜片的四个点的棱镜度可以表示</a:t>
                  </a:r>
                </a:p>
                <a:p>
                  <a:pPr indent="720000">
                    <a:lnSpc>
                      <a:spcPct val="150000"/>
                    </a:lnSpc>
                  </a:pP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64A3746-BC74-8529-CC27-880882D7C8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00" y="493965"/>
                  <a:ext cx="8763000" cy="7249549"/>
                </a:xfrm>
                <a:prstGeom prst="rect">
                  <a:avLst/>
                </a:prstGeom>
                <a:blipFill>
                  <a:blip r:embed="rId2"/>
                  <a:stretch>
                    <a:fillRect l="-896" r="-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929C7F51-874A-297E-8C9F-2054AD6C114A}"/>
                    </a:ext>
                  </a:extLst>
                </p:cNvPr>
                <p:cNvSpPr txBox="1"/>
                <p:nvPr/>
              </p:nvSpPr>
              <p:spPr>
                <a:xfrm>
                  <a:off x="3508612" y="1219200"/>
                  <a:ext cx="3371372" cy="7993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=100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+100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func>
                                  <m:func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=100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+100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func>
                                  <m:func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929C7F51-874A-297E-8C9F-2054AD6C1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8612" y="1219200"/>
                  <a:ext cx="3371372" cy="7993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1E6B878-C452-95D9-FFF5-F2E87BE67F60}"/>
                    </a:ext>
                  </a:extLst>
                </p:cNvPr>
                <p:cNvSpPr txBox="1"/>
                <p:nvPr/>
              </p:nvSpPr>
              <p:spPr>
                <a:xfrm>
                  <a:off x="3052622" y="7267544"/>
                  <a:ext cx="4283352" cy="15400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20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zh-CN" altLang="en-US" sz="20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plcHide m:val="on"/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zh-CN" alt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20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𝐴𝑥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2000">
                                                  <a:latin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20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𝐵𝑥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2000">
                                                  <a:latin typeface="Cambria Math" panose="02040503050406030204" pitchFamily="18" charset="0"/>
                                                </a:rPr>
                                                <m:t>=100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20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𝐹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zh-CN" altLang="en-US" sz="200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  <m:d>
                                                    <m:dPr>
                                                      <m:begChr m:val="|"/>
                                                      <m:endChr m:val=""/>
                                                      <m:ctrlPr>
                                                        <a:rPr lang="zh-CN" alt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func>
                                                        <m:funcPr>
                                                          <m:ctrlPr>
                                                            <a:rPr lang="zh-CN" altLang="en-US" sz="20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funcPr>
                                                        <m:fName>
                                                          <m:r>
                                                            <m:rPr>
                                                              <m:sty m:val="p"/>
                                                            </m:rPr>
                                                            <a:rPr lang="zh-CN" altLang="en-US" sz="20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cos</m:t>
                                                          </m:r>
                                                        </m:fName>
                                                        <m:e>
                                                          <m:d>
                                                            <m:dPr>
                                                              <m:begChr m:val=""/>
                                                              <m:endChr m:val="|"/>
                                                              <m:ctrlPr>
                                                                <a:rPr lang="zh-CN" altLang="en-US" sz="2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zh-CN" altLang="en-US" sz="20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𝜃</m:t>
                                                              </m:r>
                                                            </m:e>
                                                          </m:d>
                                                        </m:e>
                                                      </m:func>
                                                    </m:e>
                                                  </m:d>
                                                </m:e>
                                              </m:func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20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𝐴𝑦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2000">
                                                  <a:latin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20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𝐵𝑦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2000">
                                                  <a:latin typeface="Cambria Math" panose="02040503050406030204" pitchFamily="18" charset="0"/>
                                                </a:rPr>
                                                <m:t>=100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20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𝐹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  <m:r>
                                                <a:rPr lang="zh-CN" altLang="en-US" sz="2000">
                                                  <a:latin typeface="Cambria Math" panose="02040503050406030204" pitchFamily="18" charset="0"/>
                                                </a:rPr>
                                                <m:t>+100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20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𝐹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sSup>
                                                    <m:sSupPr>
                                                      <m:ctrlPr>
                                                        <a:rPr lang="zh-CN" altLang="en-US" sz="20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zh-CN" altLang="en-US" sz="2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cos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zh-CN" altLang="en-US" sz="20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</m:fName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func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𝐶𝑥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𝐷𝑥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=100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+100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func>
                                          <m:funcPr>
                                            <m:ctrlP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p>
                                              <m:sSupPr>
                                                <m:ctrlPr>
                                                  <a:rPr lang="zh-CN" altLang="en-US" sz="20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altLang="en-US" sz="2000">
                                                    <a:latin typeface="Cambria Math" panose="02040503050406030204" pitchFamily="18" charset="0"/>
                                                  </a:rPr>
                                                  <m:t>sin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zh-CN" altLang="en-US" sz="200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fName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func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𝐶𝑦</m:t>
                                      </m:r>
                                    </m:sub>
                                  </m:sSub>
                                  <m:r>
                                    <a:rPr lang="zh-CN" altLang="en-US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𝐷𝑦</m:t>
                                      </m:r>
                                    </m:sub>
                                  </m:sSub>
                                  <m:r>
                                    <a:rPr lang="zh-CN" altLang="en-US" sz="2000">
                                      <a:latin typeface="Cambria Math" panose="02040503050406030204" pitchFamily="18" charset="0"/>
                                    </a:rPr>
                                    <m:t>=100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func>
                                    <m:func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d>
                                        <m:dPr>
                                          <m:begChr m:val="|"/>
                                          <m:endChr m:val=""/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unc>
                                            <m:func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altLang="en-US" sz="2000">
                                                  <a:latin typeface="Cambria Math" panose="02040503050406030204" pitchFamily="18" charset="0"/>
                                                </a:rPr>
                                                <m:t>cos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begChr m:val=""/>
                                                  <m:endChr m:val="|"/>
                                                  <m:ctrlP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</m:e>
                                      </m:d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1E6B878-C452-95D9-FFF5-F2E87BE67F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2622" y="7267544"/>
                  <a:ext cx="4283352" cy="15400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FFBBF70-8F1C-B6F8-F242-CBA617A3EB83}"/>
                </a:ext>
              </a:extLst>
            </p:cNvPr>
            <p:cNvSpPr txBox="1"/>
            <p:nvPr/>
          </p:nvSpPr>
          <p:spPr>
            <a:xfrm>
              <a:off x="7943435" y="1400486"/>
              <a:ext cx="8274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/>
                <a:t>（</a:t>
              </a:r>
              <a:r>
                <a:rPr lang="en-US" altLang="zh-CN" sz="2000" dirty="0"/>
                <a:t>3</a:t>
              </a:r>
              <a:r>
                <a:rPr lang="zh-CN" altLang="en-US" sz="2000" dirty="0"/>
                <a:t>）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53BFC45-BE16-49CA-D13C-C86B01C3FC3F}"/>
                </a:ext>
              </a:extLst>
            </p:cNvPr>
            <p:cNvSpPr txBox="1"/>
            <p:nvPr/>
          </p:nvSpPr>
          <p:spPr>
            <a:xfrm>
              <a:off x="7943435" y="7837507"/>
              <a:ext cx="8274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/>
                <a:t>（</a:t>
              </a:r>
              <a:r>
                <a:rPr lang="en-US" altLang="zh-CN" sz="2000" dirty="0"/>
                <a:t>4</a:t>
              </a:r>
              <a:r>
                <a:rPr lang="zh-CN" altLang="en-US" sz="2000" dirty="0"/>
                <a:t>）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E6197D54-7225-7254-8221-DC42FDD3A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5523" y="472194"/>
            <a:ext cx="3719408" cy="364260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A051F16-D13C-47C0-F60A-A28132AF27D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" t="1711" r="1627" b="359"/>
          <a:stretch>
            <a:fillRect/>
          </a:stretch>
        </p:blipFill>
        <p:spPr bwMode="auto">
          <a:xfrm>
            <a:off x="12014200" y="4666102"/>
            <a:ext cx="3280731" cy="36926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181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A7B227E-3E1C-9062-7F64-0A0637FA3B2C}"/>
                  </a:ext>
                </a:extLst>
              </p:cNvPr>
              <p:cNvSpPr txBox="1"/>
              <p:nvPr/>
            </p:nvSpPr>
            <p:spPr>
              <a:xfrm>
                <a:off x="584200" y="99164"/>
                <a:ext cx="11201400" cy="8217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720000">
                  <a:lnSpc>
                    <a:spcPct val="150000"/>
                  </a:lnSpc>
                </a:pP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设点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沿轴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方向的偏移量为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zh-CN" altLang="zh-CN" sz="24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、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，点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zh-CN" altLang="zh-CN" sz="24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、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为正或为负时，点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坐标可以表示为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h+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-h-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(-h-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(h+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若以沿轴</a:t>
                </a:r>
                <a:r>
                  <a:rPr lang="en-US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正方向的偏移量为正，反之为负，则无论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角度如何，都有</a:t>
                </a:r>
                <a:endParaRPr lang="en-US" altLang="zh-CN" sz="24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720000">
                  <a:lnSpc>
                    <a:spcPct val="150000"/>
                  </a:lnSpc>
                </a:pPr>
                <a:endParaRPr lang="en-US" altLang="zh-CN" sz="2400" dirty="0"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720000">
                  <a:lnSpc>
                    <a:spcPct val="150000"/>
                  </a:lnSpc>
                </a:pPr>
                <a:endParaRPr lang="en-US" altLang="zh-CN" sz="2400" dirty="0"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720000">
                  <a:lnSpc>
                    <a:spcPct val="150000"/>
                  </a:lnSpc>
                </a:pPr>
                <a:endParaRPr lang="en-US" altLang="zh-CN" sz="2400" dirty="0"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720000">
                  <a:lnSpc>
                    <a:spcPct val="150000"/>
                  </a:lnSpc>
                </a:pPr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720000">
                  <a:lnSpc>
                    <a:spcPct val="150000"/>
                  </a:lnSpc>
                </a:pP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整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理得，</a:t>
                </a:r>
              </a:p>
              <a:p>
                <a:pPr indent="720000">
                  <a:lnSpc>
                    <a:spcPct val="150000"/>
                  </a:lnSpc>
                </a:pPr>
                <a:endParaRPr lang="en-US" altLang="zh-CN" sz="2400" dirty="0"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720000">
                  <a:lnSpc>
                    <a:spcPct val="15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由于对称性，只需探测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的坐标，即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。因此，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– 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indent="720000">
                  <a:lnSpc>
                    <a:spcPct val="15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可得</a:t>
                </a:r>
              </a:p>
              <a:p>
                <a:pPr indent="720000">
                  <a:lnSpc>
                    <a:spcPct val="150000"/>
                  </a:lnSpc>
                </a:pPr>
                <a:endParaRPr lang="en-US" altLang="zh-CN" sz="2400" dirty="0"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A7B227E-3E1C-9062-7F64-0A0637FA3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99164"/>
                <a:ext cx="11201400" cy="8217634"/>
              </a:xfrm>
              <a:prstGeom prst="rect">
                <a:avLst/>
              </a:prstGeom>
              <a:blipFill>
                <a:blip r:embed="rId2"/>
                <a:stretch>
                  <a:fillRect l="-871" r="-3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3E14BAA-BB43-63AB-BA39-8596FAA8F9DA}"/>
                  </a:ext>
                </a:extLst>
              </p:cNvPr>
              <p:cNvSpPr txBox="1"/>
              <p:nvPr/>
            </p:nvSpPr>
            <p:spPr>
              <a:xfrm>
                <a:off x="3440289" y="1864436"/>
                <a:ext cx="4404091" cy="25088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en-US" sz="2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zh-CN" altLang="en-US" sz="2000">
                                                <a:latin typeface="Cambria Math" panose="02040503050406030204" pitchFamily="18" charset="0"/>
                                              </a:rPr>
                                              <m:t>100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en-US" sz="20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𝐹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altLang="en-US" sz="2000">
                                                    <a:latin typeface="Cambria Math" panose="02040503050406030204" pitchFamily="18" charset="0"/>
                                                  </a:rPr>
                                                  <m:t>sin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  <m:func>
                                                  <m:funcPr>
                                                    <m:ctrlPr>
                                                      <a:rPr lang="zh-CN" altLang="en-US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uncPr>
                                                  <m:fNam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zh-CN" altLang="en-US" sz="2000">
                                                        <a:latin typeface="Cambria Math" panose="02040503050406030204" pitchFamily="18" charset="0"/>
                                                      </a:rPr>
                                                      <m:t>cos</m:t>
                                                    </m:r>
                                                  </m:fName>
                                                  <m:e>
                                                    <m:r>
                                                      <a:rPr lang="zh-CN" altLang="en-US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  <m:r>
                                                      <a:rPr lang="zh-CN" altLang="en-US" sz="2000">
                                                        <a:latin typeface="Cambria Math" panose="02040503050406030204" pitchFamily="18" charset="0"/>
                                                      </a:rPr>
                                                      <m:t>=100</m:t>
                                                    </m:r>
                                                    <m:f>
                                                      <m:fPr>
                                                        <m:ctrlPr>
                                                          <a:rPr lang="zh-CN" altLang="en-US" sz="2000" i="1">
                                                            <a:solidFill>
                                                              <a:srgbClr val="836967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fPr>
                                                      <m:num>
                                                        <m:r>
                                                          <a:rPr lang="zh-CN" altLang="en-US" sz="200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∆</m:t>
                                                        </m:r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zh-CN" altLang="en-US" sz="2000" i="1">
                                                                <a:solidFill>
                                                                  <a:srgbClr val="836967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zh-CN" altLang="en-US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𝑥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zh-CN" altLang="en-US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𝑒</m:t>
                                                            </m:r>
                                                          </m:sub>
                                                        </m:sSub>
                                                      </m:num>
                                                      <m:den>
                                                        <m:r>
                                                          <a:rPr lang="zh-CN" altLang="en-US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𝑑</m:t>
                                                        </m:r>
                                                      </m:den>
                                                    </m:f>
                                                  </m:e>
                                                </m:func>
                                              </m:e>
                                            </m:func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zh-CN" altLang="en-US" sz="2000">
                                                <a:latin typeface="Cambria Math" panose="02040503050406030204" pitchFamily="18" charset="0"/>
                                              </a:rPr>
                                              <m:t>− 100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en-US" sz="20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𝐹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  <m:r>
                                              <a:rPr lang="zh-CN" altLang="en-US" sz="2000">
                                                <a:latin typeface="Cambria Math" panose="02040503050406030204" pitchFamily="18" charset="0"/>
                                              </a:rPr>
                                              <m:t> − 100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en-US" sz="20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𝐹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sSup>
                                                  <m:sSupPr>
                                                    <m:ctrlPr>
                                                      <a:rPr lang="zh-CN" altLang="en-US" sz="2000" i="1">
                                                        <a:solidFill>
                                                          <a:srgbClr val="83696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zh-CN" altLang="en-US" sz="2000">
                                                        <a:latin typeface="Cambria Math" panose="02040503050406030204" pitchFamily="18" charset="0"/>
                                                      </a:rPr>
                                                      <m:t>cos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zh-CN" altLang="en-US" sz="200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</m:fName>
                                              <m:e>
                                                <m: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</m:func>
                                            <m:r>
                                              <a:rPr lang="zh-CN" altLang="en-US" sz="2000">
                                                <a:latin typeface="Cambria Math" panose="02040503050406030204" pitchFamily="18" charset="0"/>
                                              </a:rPr>
                                              <m:t>=100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zh-CN" altLang="en-US" sz="20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zh-CN" altLang="en-US" sz="2000">
                                                    <a:latin typeface="Cambria Math" panose="02040503050406030204" pitchFamily="18" charset="0"/>
                                                  </a:rPr>
                                                  <m:t>∆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zh-CN" altLang="en-US" sz="2000" i="1">
                                                        <a:solidFill>
                                                          <a:srgbClr val="83696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zh-CN" altLang="en-US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zh-CN" altLang="en-US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𝑒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zh-CN" alt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den>
                                            </m:f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zh-CN" altLang="en-US" sz="2000">
                                          <a:latin typeface="Cambria Math" panose="02040503050406030204" pitchFamily="18" charset="0"/>
                                        </a:rPr>
                                        <m:t>− 100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zh-CN" altLang="en-US" sz="2000">
                                          <a:latin typeface="Cambria Math" panose="02040503050406030204" pitchFamily="18" charset="0"/>
                                        </a:rPr>
                                        <m:t> − 100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func>
                                        <m:func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zh-CN" altLang="en-US" sz="20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altLang="en-US" sz="2000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200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  <m:r>
                                        <a:rPr lang="zh-CN" altLang="en-US" sz="2000">
                                          <a:latin typeface="Cambria Math" panose="02040503050406030204" pitchFamily="18" charset="0"/>
                                        </a:rPr>
                                        <m:t>=100</m:t>
                                      </m:r>
                                      <m:f>
                                        <m:fPr>
                                          <m:ctrlPr>
                                            <a:rPr lang="zh-CN" altLang="en-US" sz="2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000">
                                              <a:latin typeface="Cambria Math" panose="02040503050406030204" pitchFamily="18" charset="0"/>
                                            </a:rPr>
                                            <m:t>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20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func>
                                  <m:func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func>
                                      <m:func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</m:e>
                                    </m:func>
                                  </m:e>
                                </m:func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f>
                                  <m:f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3E14BAA-BB43-63AB-BA39-8596FAA8F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289" y="1864436"/>
                <a:ext cx="4404091" cy="2508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DFB7766-0D28-8EAA-5DAE-B98770737754}"/>
                  </a:ext>
                </a:extLst>
              </p:cNvPr>
              <p:cNvSpPr txBox="1"/>
              <p:nvPr/>
            </p:nvSpPr>
            <p:spPr>
              <a:xfrm>
                <a:off x="3445047" y="4469956"/>
                <a:ext cx="3434402" cy="11396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=∆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𝑑h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func>
                                      <m:func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func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=− 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𝑑h</m:t>
                                </m:r>
                                <m:d>
                                  <m:dPr>
                                    <m:endChr m:val=""/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func>
                                      <m:func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zh-CN" alt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altLang="en-US" sz="2000">
                                                <a:latin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sz="200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begChr m:val=""/>
                                            <m:ctrlP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=− 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𝑑h</m:t>
                                </m:r>
                                <m:d>
                                  <m:dPr>
                                    <m:endChr m:val=""/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sz="20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func>
                                      <m:func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zh-CN" alt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altLang="en-US" sz="2000"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sz="200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begChr m:val=""/>
                                            <m:ctrlP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DFB7766-0D28-8EAA-5DAE-B98770737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047" y="4469956"/>
                <a:ext cx="3434402" cy="11396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DADA9D9-B4E2-66C6-0D60-14EC2F7CF0D1}"/>
                  </a:ext>
                </a:extLst>
              </p:cNvPr>
              <p:cNvSpPr txBox="1"/>
              <p:nvPr/>
            </p:nvSpPr>
            <p:spPr>
              <a:xfrm>
                <a:off x="3440289" y="6832307"/>
                <a:ext cx="5034455" cy="2212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20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2000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zh-CN" sz="20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∓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zh-CN" altLang="zh-CN" sz="20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000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0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2000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zh-CN" sz="20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（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zh-CN" sz="2000" i="1" kern="1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𝑒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altLang="zh-CN" sz="2000" i="1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zh-CN" sz="2000" i="1" kern="1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h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𝑑h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20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altLang="zh-CN" sz="2000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zh-CN" sz="20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±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zh-CN" altLang="zh-CN" sz="20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000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0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2000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zh-CN" sz="20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zh-CN" sz="2000" i="1" kern="1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𝑒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altLang="zh-CN" sz="2000" i="1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zh-CN" sz="2000" i="1" kern="1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h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𝑑h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hlinkClick r:id="rId5" action="ppaction://hlinksldjump"/>
                                  </a:rPr>
                                  <m:t>𝜃</m:t>
                                </m:r>
                                <m:r>
                                  <a:rPr lang="en-US" altLang="zh-CN" sz="2000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zh-CN" sz="20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𝑎𝑟𝑐𝑠𝑖𝑛</m:t>
                                </m:r>
                                <m:f>
                                  <m:fPr>
                                    <m:ctrlPr>
                                      <a:rPr lang="zh-CN" altLang="zh-CN" sz="20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000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±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zh-CN" altLang="zh-CN" sz="20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000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0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2000" kern="1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zh-CN" sz="20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zh-CN" sz="2000" i="1" kern="1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𝑒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altLang="zh-CN" sz="2000" i="1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zh-CN" sz="2000" i="1" kern="1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 kern="10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h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kern="10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DADA9D9-B4E2-66C6-0D60-14EC2F7CF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289" y="6832307"/>
                <a:ext cx="5034455" cy="22125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EECD831C-7E48-047D-D891-AC7092D2C7B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5600" y="762000"/>
            <a:ext cx="3017122" cy="333509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33F3532-C12F-800F-3D8E-323A123C197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5600" y="4701973"/>
            <a:ext cx="2828925" cy="31132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9835C09-5F51-D4F4-1D32-683C4BF4D8BE}"/>
                  </a:ext>
                </a:extLst>
              </p:cNvPr>
              <p:cNvSpPr txBox="1"/>
              <p:nvPr/>
            </p:nvSpPr>
            <p:spPr>
              <a:xfrm>
                <a:off x="12873084" y="4097093"/>
                <a:ext cx="842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为</m:t>
                    </m:r>
                  </m:oMath>
                </a14:m>
                <a:r>
                  <a:rPr lang="zh-CN" altLang="en-US" dirty="0"/>
                  <a:t>正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9835C09-5F51-D4F4-1D32-683C4BF4D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3084" y="4097093"/>
                <a:ext cx="842154" cy="369332"/>
              </a:xfrm>
              <a:prstGeom prst="rect">
                <a:avLst/>
              </a:prstGeom>
              <a:blipFill>
                <a:blip r:embed="rId9"/>
                <a:stretch>
                  <a:fillRect t="-13115" r="-5072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5EE74CA-6E8C-37B9-28A9-EC670D9F30C0}"/>
                  </a:ext>
                </a:extLst>
              </p:cNvPr>
              <p:cNvSpPr txBox="1"/>
              <p:nvPr/>
            </p:nvSpPr>
            <p:spPr>
              <a:xfrm>
                <a:off x="12873084" y="8072228"/>
                <a:ext cx="895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为负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5EE74CA-6E8C-37B9-28A9-EC670D9F3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3084" y="8072228"/>
                <a:ext cx="895052" cy="369332"/>
              </a:xfrm>
              <a:prstGeom prst="rect">
                <a:avLst/>
              </a:prstGeom>
              <a:blipFill>
                <a:blip r:embed="rId10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DB68BAC2-39C6-1796-AE7E-21CE5E65B776}"/>
              </a:ext>
            </a:extLst>
          </p:cNvPr>
          <p:cNvSpPr txBox="1"/>
          <p:nvPr/>
        </p:nvSpPr>
        <p:spPr>
          <a:xfrm>
            <a:off x="9880600" y="313555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5</a:t>
            </a:r>
            <a:r>
              <a:rPr lang="zh-CN" altLang="en-US" sz="2000" dirty="0"/>
              <a:t>）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2AB009-C19D-11C8-1927-8306BE18468F}"/>
              </a:ext>
            </a:extLst>
          </p:cNvPr>
          <p:cNvSpPr txBox="1"/>
          <p:nvPr/>
        </p:nvSpPr>
        <p:spPr>
          <a:xfrm>
            <a:off x="9880600" y="750919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linkClick r:id="rId11" action="ppaction://hlinksldjump"/>
              </a:rPr>
              <a:t>（</a:t>
            </a:r>
            <a:r>
              <a:rPr lang="en-US" altLang="zh-CN" sz="2000" dirty="0">
                <a:hlinkClick r:id="rId11" action="ppaction://hlinksldjump"/>
              </a:rPr>
              <a:t>6</a:t>
            </a:r>
            <a:r>
              <a:rPr lang="zh-CN" altLang="en-US" sz="2000" dirty="0">
                <a:hlinkClick r:id="rId11" action="ppaction://hlinksldjump"/>
              </a:rPr>
              <a:t>）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0276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DB30AC9-B8EB-E81D-B291-9BCBA353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1" y="685799"/>
            <a:ext cx="6262737" cy="32903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A1BE12-304F-1A2F-F3F3-E9B898CA5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4513035"/>
            <a:ext cx="6110337" cy="34117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E055B6-B67D-9394-CF9C-55AB6DB1D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138" y="2520599"/>
            <a:ext cx="6834315" cy="400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33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939FBE-2540-A39E-641B-E0C38241F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4200" y="609600"/>
            <a:ext cx="3129522" cy="3200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2C9936-48B8-78EC-BC61-E6D197BBA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9200" y="4343400"/>
            <a:ext cx="3816000" cy="304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3AA2806-B60D-1B5F-2530-FA63C61F6FEF}"/>
                  </a:ext>
                </a:extLst>
              </p:cNvPr>
              <p:cNvSpPr txBox="1"/>
              <p:nvPr/>
            </p:nvSpPr>
            <p:spPr>
              <a:xfrm>
                <a:off x="1147838" y="851911"/>
                <a:ext cx="9853748" cy="7440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设圆柱体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底面半径为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。在垂直于其轴线的方向上，最大曲率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box>
                              <m:box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e>
                            </m:box>
                          </m:sub>
                        </m:sSub>
                        <m:r>
                          <a:rPr lang="en-US" altLang="zh-CN" sz="24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=1/</m:t>
                        </m:r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box>
                  </m:oMath>
                </a14:m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，对应</a:t>
                </a:r>
                <a:r>
                  <a:rPr lang="zh-CN" altLang="en-US" sz="2400" dirty="0">
                    <a:latin typeface="Arial" panose="020B0604020202020204" pitchFamily="34" charset="0"/>
                  </a:rPr>
                  <a:t>的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最大屈光度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为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box>
                              <m:box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box>
                          </m:sub>
                        </m:sSub>
                      </m:e>
                    </m:box>
                  </m:oMath>
                </a14:m>
                <a:endParaRPr kumimoji="0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若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以斜角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（定义为</a:t>
                </a: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剖面与柱镜轴线的夹角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）去切割圆柱体</a:t>
                </a:r>
                <a:endParaRPr kumimoji="0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dirty="0">
                    <a:latin typeface="Arial" panose="020B0604020202020204" pitchFamily="34" charset="0"/>
                  </a:rPr>
                  <a:t>则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椭圆</a:t>
                </a:r>
                <a:r>
                  <a:rPr lang="zh-CN" altLang="zh-CN" sz="24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短半轴</a:t>
                </a:r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：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sz="24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box>
                  </m:oMath>
                </a14:m>
                <a:endParaRPr kumimoji="0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椭圆</a:t>
                </a:r>
                <a:r>
                  <a:rPr lang="zh-CN" altLang="zh-CN" sz="24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长半轴</a:t>
                </a:r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：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24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box>
                              <m:box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</m:box>
                          </m:num>
                          <m:den>
                            <m:box>
                              <m:box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  <m:r>
                                  <a:rPr lang="en-US" altLang="zh-CN" sz="24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</m:box>
                          </m:den>
                        </m:f>
                      </m:e>
                    </m:box>
                  </m:oMath>
                </a14:m>
                <a:endParaRPr kumimoji="0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椭圆在</a:t>
                </a:r>
                <a:r>
                  <a:rPr lang="zh-CN" altLang="en-US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短半轴</a:t>
                </a:r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顶点处的曲率半径公式为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zh-CN" sz="24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box>
                              <m:box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sSup>
                                  <m:sSupPr>
                                    <m:ctrlPr>
                                      <a:rPr lang="zh-CN" altLang="zh-CN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zh-CN" sz="24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box>
                          </m:num>
                          <m:den>
                            <m:box>
                              <m:box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box>
                          </m:den>
                        </m:f>
                      </m:e>
                    </m:box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box>
                                  <m:box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d>
                                      <m:d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box>
                                          <m:boxPr>
                                            <m:ctrlPr>
                                              <a:rPr lang="zh-CN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f>
                                              <m:fPr>
                                                <m:ctrlPr>
                                                  <a:rPr lang="zh-CN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box>
                                                  <m:boxPr>
                                                    <m:ctrlPr>
                                                      <a:rPr lang="zh-CN" altLang="zh-CN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box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𝑅</m:t>
                                                    </m:r>
                                                  </m:e>
                                                </m:box>
                                              </m:num>
                                              <m:den>
                                                <m:box>
                                                  <m:boxPr>
                                                    <m:ctrlPr>
                                                      <a:rPr lang="zh-CN" altLang="zh-CN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box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zh-CN" sz="2400">
                                                        <a:latin typeface="Cambria Math" panose="02040503050406030204" pitchFamily="18" charset="0"/>
                                                      </a:rPr>
                                                      <m:t>sin</m:t>
                                                    </m:r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𝛼</m:t>
                                                    </m:r>
                                                  </m:e>
                                                </m:box>
                                              </m:den>
                                            </m:f>
                                          </m:e>
                                        </m:box>
                                      </m:e>
                                    </m:d>
                                  </m:e>
                                </m:box>
                              </m:e>
                              <m:sup>
                                <m:box>
                                  <m:box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box>
                              </m:sup>
                            </m:sSup>
                          </m:e>
                        </m:box>
                      </m:num>
                      <m:den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box>
                      </m:den>
                    </m:f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box>
                      </m:num>
                      <m:den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box>
                                  <m:box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box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box>
                      </m:den>
                    </m:f>
                  </m:oMath>
                </a14:m>
                <a:endParaRPr kumimoji="0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400" dirty="0">
                    <a:latin typeface="Arial" panose="020B0604020202020204" pitchFamily="34" charset="0"/>
                  </a:rPr>
                  <a:t>斜角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曲率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box>
                              <m:boxPr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</m:box>
                          </m:sub>
                        </m:sSub>
                      </m:e>
                    </m:box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400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box>
                              <m:box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box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box>
                              <m:box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box>
                          </m:num>
                          <m:den>
                            <m:box>
                              <m:box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box>
                          </m:den>
                        </m:f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box>
                              <m:box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sSup>
                                  <m:sSup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r>
                                          <a:rPr lang="en-US" altLang="zh-CN" sz="24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box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box>
                          </m:num>
                          <m:den>
                            <m:box>
                              <m:box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box>
                          </m:den>
                        </m:f>
                      </m:e>
                    </m:box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e>
                        </m:box>
                      </m:sub>
                    </m:sSub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box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由于透镜的屈光度与表面的曲率成正比（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  <m:r>
                          <a:rPr lang="en-US" altLang="zh-CN" sz="240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∝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box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），因此柱镜在</a:t>
                </a:r>
                <a:r>
                  <a:rPr lang="en-US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轴上</a:t>
                </a: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的有效屈光度为：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box>
                              <m:boxPr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</m:box>
                          </m:sub>
                        </m:sSub>
                        <m:r>
                          <a:rPr lang="en-US" altLang="zh-CN" sz="2400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box>
                              <m:boxPr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</m:box>
                          </m:sub>
                        </m:sSub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sin</m:t>
                            </m:r>
                          </m:e>
                          <m:sup>
                            <m:box>
                              <m:boxPr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box>
                          </m:sup>
                        </m:s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box>
                  </m:oMath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柱镜在</a:t>
                </a:r>
                <a:r>
                  <a:rPr lang="en-US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zh-CN" sz="24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轴上的屈光度分量为：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box>
                              <m:box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box>
                          </m:sub>
                        </m:sSub>
                        <m:r>
                          <a:rPr lang="en-US" altLang="zh-CN" sz="24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box>
                              <m:box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</m:box>
                          </m:sub>
                        </m:sSub>
                        <m:sSup>
                          <m:sSup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sin</m:t>
                            </m:r>
                          </m:e>
                          <m:sup>
                            <m:box>
                              <m:box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 altLang="zh-CN" sz="24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box>
                          </m:sup>
                        </m:sSup>
                        <m:box>
                          <m:box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d>
                              <m:dPr>
                                <m:ctrlPr>
                                  <a:rPr lang="zh-CN" altLang="zh-CN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box>
                                  <m:boxPr>
                                    <m:ctrlPr>
                                      <a:rPr lang="zh-CN" altLang="zh-CN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sSup>
                                      <m:sSupPr>
                                        <m:ctrlPr>
                                          <a:rPr lang="zh-CN" altLang="zh-CN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90</m:t>
                                        </m:r>
                                      </m:e>
                                      <m:sup>
                                        <m:box>
                                          <m:boxPr>
                                            <m:ctrlPr>
                                              <a:rPr lang="zh-CN" altLang="zh-CN" sz="2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r>
                                              <a:rPr lang="en-US" altLang="zh-CN" sz="24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∘</m:t>
                                            </m:r>
                                          </m:e>
                                        </m:box>
                                      </m:sup>
                                    </m:sSup>
                                    <m:r>
                                      <a:rPr lang="en-US" altLang="zh-CN" sz="24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</m:box>
                              </m:e>
                            </m:d>
                          </m:e>
                        </m:box>
                      </m:e>
                    </m:box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box>
                      </m:sub>
                    </m:sSub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box>
                          <m:box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box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3AA2806-B60D-1B5F-2530-FA63C61F6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838" y="851911"/>
                <a:ext cx="9853748" cy="7440178"/>
              </a:xfrm>
              <a:prstGeom prst="rect">
                <a:avLst/>
              </a:prstGeom>
              <a:blipFill>
                <a:blip r:embed="rId4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639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E3AD710-BA06-449D-9834-BE64151D7AD7}"/>
                  </a:ext>
                </a:extLst>
              </p:cNvPr>
              <p:cNvSpPr txBox="1"/>
              <p:nvPr/>
            </p:nvSpPr>
            <p:spPr>
              <a:xfrm>
                <a:off x="508000" y="417077"/>
                <a:ext cx="8267336" cy="9257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设初始四个光斑位置在：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, 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0,−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, 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, 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+mn-ea"/>
                  </a:rPr>
                  <a:t>测量得到：</a:t>
                </a:r>
                <a:endParaRPr lang="en-US" altLang="zh-CN" sz="24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𝐴</m:t>
                      </m:r>
                      <m:r>
                        <a:rPr lang="en-US" altLang="zh-CN" sz="20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′</m:t>
                      </m:r>
                      <m:d>
                        <m:d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,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 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𝐷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′</m:t>
                      </m:r>
                      <m:d>
                        <m:d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zh-CN" sz="24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那么：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+mn-ea"/>
                  </a:rPr>
                  <a:t>由对称性：</a:t>
                </a:r>
                <a:endParaRPr lang="en-US" altLang="zh-CN" sz="24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2</m:t>
                          </m:r>
                        </m:sub>
                      </m:sSub>
                      <m:r>
                        <a:rPr lang="en-US" altLang="zh-CN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因此：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(2)和(3)</a:t>
                </a:r>
                <a:r>
                  <a:rPr lang="zh-CN" altLang="en-US" sz="2400" dirty="0"/>
                  <a:t>两式相减消去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sub>
                    </m:sSub>
                  </m:oMath>
                </a14:m>
                <a:endParaRPr lang="zh-CN" alt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𝑢h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𝑢h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E3AD710-BA06-449D-9834-BE64151D7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417077"/>
                <a:ext cx="8267336" cy="9257150"/>
              </a:xfrm>
              <a:prstGeom prst="rect">
                <a:avLst/>
              </a:prstGeom>
              <a:blipFill>
                <a:blip r:embed="rId2"/>
                <a:stretch>
                  <a:fillRect l="-1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3921836-2641-28AB-43A2-37EB8C2CE5FF}"/>
                  </a:ext>
                </a:extLst>
              </p:cNvPr>
              <p:cNvSpPr txBox="1"/>
              <p:nvPr/>
            </p:nvSpPr>
            <p:spPr>
              <a:xfrm>
                <a:off x="3134368" y="2957394"/>
                <a:ext cx="2350580" cy="1387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𝛥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−0</m:t>
                                  </m:r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zh-CN" altLang="zh-CN" sz="2000" dirty="0">
                                      <a:latin typeface="Arial" panose="020B0604020202020204" pitchFamily="34" charset="0"/>
                                      <a:cs typeface="Times New Roman (正文 CS 字体)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𝛥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h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zh-CN" sz="2000" dirty="0">
                                      <a:latin typeface="Arial" panose="020B0604020202020204" pitchFamily="34" charset="0"/>
                                      <a:cs typeface="Times New Roman (正文 CS 字体)"/>
                                    </a:rPr>
                                    <m:t> 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𝛥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h</m:t>
                              </m:r>
                              <m:r>
                                <m:rPr>
                                  <m:nor/>
                                </m:rPr>
                                <a:rPr lang="zh-CN" altLang="zh-CN" sz="2000" dirty="0">
                                  <a:latin typeface="Arial" panose="020B0604020202020204" pitchFamily="34" charset="0"/>
                                  <a:cs typeface="Times New Roman (正文 CS 字体)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𝛥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−0</m:t>
                              </m:r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zh-CN" sz="2000" dirty="0">
                                  <a:latin typeface="Arial" panose="020B0604020202020204" pitchFamily="34" charset="0"/>
                                  <a:cs typeface="Times New Roman (正文 CS 字体)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3921836-2641-28AB-43A2-37EB8C2CE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368" y="2957394"/>
                <a:ext cx="2350580" cy="13874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D91FEE1-860D-B6ED-D089-416D234AC5F4}"/>
                  </a:ext>
                </a:extLst>
              </p:cNvPr>
              <p:cNvSpPr txBox="1"/>
              <p:nvPr/>
            </p:nvSpPr>
            <p:spPr>
              <a:xfrm>
                <a:off x="2111973" y="6466819"/>
                <a:ext cx="5177828" cy="1387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=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𝑢h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sin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𝜃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cos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𝜃</m:t>
                              </m:r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𝑢h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zh-CN" altLang="en-US" sz="2000"/>
                                <m:t>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 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       </m:t>
                              </m:r>
                              <m:d>
                                <m:d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zh-CN" sz="2000" dirty="0">
                                  <a:latin typeface="Arial" panose="020B0604020202020204" pitchFamily="34" charset="0"/>
                                  <a:cs typeface="Times New Roman (正文 CS 字体)"/>
                                </a:rPr>
                                <m:t> 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 (正文 CS 字体)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h</m:t>
                                  </m:r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=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𝑢h</m:t>
                                  </m:r>
                                  <m:d>
                                    <m:d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                         </m:t>
                                  </m:r>
                                  <m:d>
                                    <m:d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zh-CN" altLang="zh-CN" sz="2000" dirty="0">
                                      <a:latin typeface="Arial" panose="020B0604020202020204" pitchFamily="34" charset="0"/>
                                      <a:cs typeface="Times New Roman (正文 CS 字体)"/>
                                    </a:rPr>
                                    <m:t> 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h</m:t>
                                  </m:r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=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𝑢h</m:t>
                                  </m:r>
                                  <m:d>
                                    <m:d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cs typeface="Times New Roman (正文 CS 字体)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 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                     </m:t>
                                  </m:r>
                                  <m:d>
                                    <m:d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 (正文 CS 字体)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 (正文 CS 字体)"/>
                                        </a:rPr>
                                        <m:t>3</m:t>
                                      </m:r>
                                    </m:e>
                                  </m:d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D91FEE1-860D-B6ED-D089-416D234AC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973" y="6466819"/>
                <a:ext cx="5177828" cy="13874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5BC8664-FD4E-F7F7-83B7-5B1608969F4C}"/>
                  </a:ext>
                </a:extLst>
              </p:cNvPr>
              <p:cNvSpPr txBox="1"/>
              <p:nvPr/>
            </p:nvSpPr>
            <p:spPr>
              <a:xfrm>
                <a:off x="8056880" y="420105"/>
                <a:ext cx="8281850" cy="7511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所以：</a:t>
                </a:r>
                <a:endParaRPr lang="en-US" altLang="zh-CN" sz="24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𝑢h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sz="2000" i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 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 (正文 CS 字体)"/>
                  </a:rPr>
                  <a:t>由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(1)</a:t>
                </a:r>
                <a:r>
                  <a:rPr lang="en-US" altLang="zh-CN" sz="24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 (正文 CS 字体)"/>
                  </a:rPr>
                  <a:t>：</a:t>
                </a:r>
                <a:endParaRPr lang="zh-CN" altLang="zh-CN" sz="24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𝑢h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sz="2000" i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 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 (4)</a:t>
                </a:r>
                <a:r>
                  <a:rPr lang="en-US" altLang="zh-CN" sz="24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 (正文 CS 字体)"/>
                  </a:rPr>
                  <a:t>和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(5)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平方相加：</a:t>
                </a:r>
                <a:endParaRPr lang="zh-CN" altLang="zh-CN" sz="24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𝑢h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所以：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=±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Sup>
                                <m:sSubSupPr>
                                  <m:ctrlPr>
                                    <a:rPr lang="zh-CN" alt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𝑢h</m:t>
                          </m:r>
                        </m:den>
                      </m:f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 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由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(6) 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和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(5)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rPr>
                  <a:t>：</a:t>
                </a:r>
                <a:endParaRPr lang="en-US" altLang="zh-CN" sz="24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00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altLang="en-US" sz="2000" i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𝑢h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Sup>
                                <m:sSubSupPr>
                                  <m:ctrlPr>
                                    <a:rPr lang="zh-CN" alt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𝜃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0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arcsin</m:t>
                      </m:r>
                      <m:d>
                        <m:d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0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4</m:t>
                                  </m:r>
                                  <m:sSubSup>
                                    <m:sSubSupPr>
                                      <m:ctrlPr>
                                        <a:rPr lang="zh-CN" altLang="zh-CN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sz="20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 (正文 CS 字体)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CN" altLang="zh-CN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zh-CN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0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Times New Roman (正文 CS 字体)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Times New Roman (正文 CS 字体)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 (正文 CS 字体)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Times New Roman (正文 CS 字体)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Times New Roman (正文 CS 字体)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0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 (正文 CS 字体)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 </m:t>
                      </m:r>
                      <m:d>
                        <m:d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n-US" altLang="zh-CN" sz="2000" dirty="0">
                  <a:effectLst/>
                  <a:latin typeface="Arial" panose="020B0604020202020204" pitchFamily="34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5BC8664-FD4E-F7F7-83B7-5B1608969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880" y="420105"/>
                <a:ext cx="8281850" cy="7511993"/>
              </a:xfrm>
              <a:prstGeom prst="rect">
                <a:avLst/>
              </a:prstGeom>
              <a:blipFill>
                <a:blip r:embed="rId5"/>
                <a:stretch>
                  <a:fillRect l="-1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本框 48">
            <a:extLst>
              <a:ext uri="{FF2B5EF4-FFF2-40B4-BE49-F238E27FC236}">
                <a16:creationId xmlns:a16="http://schemas.microsoft.com/office/drawing/2014/main" id="{0D4D76FD-8979-BD76-272B-54BE6A517E05}"/>
              </a:ext>
            </a:extLst>
          </p:cNvPr>
          <p:cNvSpPr txBox="1"/>
          <p:nvPr/>
        </p:nvSpPr>
        <p:spPr>
          <a:xfrm>
            <a:off x="8966200" y="6850733"/>
            <a:ext cx="8569234" cy="45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800" dirty="0">
              <a:effectLst/>
              <a:latin typeface="Arial" panose="020B0604020202020204" pitchFamily="34" charset="0"/>
              <a:ea typeface="宋体" panose="02010600030101010101" pitchFamily="2" charset="-122"/>
              <a:cs typeface="Times New Roman (正文 CS 字体)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6BAD861-D28B-8526-C8C1-A31C8A3E3A1B}"/>
              </a:ext>
            </a:extLst>
          </p:cNvPr>
          <p:cNvSpPr txBox="1"/>
          <p:nvPr/>
        </p:nvSpPr>
        <p:spPr>
          <a:xfrm>
            <a:off x="15113000" y="8618496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Id6" action="ppaction://hlinksldjump"/>
              </a:rPr>
              <a:t>续下节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6843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7B29326-2484-8B65-0E1A-85BB3278CBEE}"/>
              </a:ext>
            </a:extLst>
          </p:cNvPr>
          <p:cNvGrpSpPr/>
          <p:nvPr/>
        </p:nvGrpSpPr>
        <p:grpSpPr>
          <a:xfrm>
            <a:off x="1346200" y="1219200"/>
            <a:ext cx="12011296" cy="5864101"/>
            <a:chOff x="993504" y="685800"/>
            <a:chExt cx="12011296" cy="58641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58FD78EE-4EE1-7395-7A5F-0C269571A2DB}"/>
                    </a:ext>
                  </a:extLst>
                </p:cNvPr>
                <p:cNvSpPr txBox="1"/>
                <p:nvPr/>
              </p:nvSpPr>
              <p:spPr>
                <a:xfrm>
                  <a:off x="993504" y="685800"/>
                  <a:ext cx="12011296" cy="43669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2400" dirty="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Times New Roman (正文 CS 字体)"/>
                    </a:rPr>
                    <a:t>由</a:t>
                  </a:r>
                  <a:r>
                    <a:rPr lang="en-US" altLang="zh-CN" sz="2400" dirty="0"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cs typeface="Times New Roman (正文 CS 字体)"/>
                    </a:rPr>
                    <a:t>(2)</a:t>
                  </a:r>
                  <a:r>
                    <a:rPr lang="en-US" altLang="zh-CN" sz="2400" dirty="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Times New Roman (正文 CS 字体)"/>
                    </a:rPr>
                    <a:t>和</a:t>
                  </a:r>
                  <a:r>
                    <a:rPr lang="en-US" altLang="zh-CN" sz="2400" dirty="0"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cs typeface="Times New Roman (正文 CS 字体)"/>
                    </a:rPr>
                    <a:t>(3)</a:t>
                  </a:r>
                  <a:r>
                    <a:rPr lang="zh-CN" altLang="en-US" sz="2400" dirty="0"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cs typeface="Times New Roman (正文 CS 字体)"/>
                    </a:rPr>
                    <a:t>相加</a:t>
                  </a:r>
                  <a:r>
                    <a:rPr lang="en-US" altLang="zh-CN" sz="2400" dirty="0">
                      <a:effectLst/>
                      <a:latin typeface="宋体" panose="02010600030101010101" pitchFamily="2" charset="-122"/>
                      <a:cs typeface="Times New Roman (正文 CS 字体)"/>
                    </a:rPr>
                    <a:t>求</a:t>
                  </a:r>
                  <a:r>
                    <a:rPr lang="en-US" altLang="zh-CN" sz="2400" dirty="0"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cs typeface="Times New Roman (正文 CS 字体)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</m:sub>
                      </m:sSub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 </m:t>
                      </m:r>
                    </m:oMath>
                  </a14:m>
                  <a:r>
                    <a:rPr lang="zh-CN" altLang="en-US" sz="2400" dirty="0"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cs typeface="Times New Roman (正文 CS 字体)"/>
                    </a:rPr>
                    <a:t>：</a:t>
                  </a:r>
                  <a:endParaRPr lang="en-US" altLang="zh-CN" sz="24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200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−2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h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=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−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𝑢h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20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𝑐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𝜃</m:t>
                                </m:r>
                                <m:r>
                                  <a:rPr lang="en-US" altLang="zh-CN" sz="20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zh-CN" sz="18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2400" dirty="0">
                      <a:effectLst/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 (正文 CS 字体)"/>
                    </a:rPr>
                    <a:t>所以：</a:t>
                  </a:r>
                  <a:endParaRPr lang="en-US" altLang="zh-CN" sz="2400" i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 (正文 CS 字体)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200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2</m:t>
                            </m:r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h</m:t>
                            </m:r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2</m:t>
                            </m:r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𝑢h</m:t>
                            </m:r>
                          </m:den>
                        </m:f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0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𝑢h</m:t>
                            </m:r>
                          </m:den>
                        </m:f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∓</m:t>
                        </m:r>
                        <m:f>
                          <m:f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bSup>
                                  <m:sSubSup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𝑢h</m:t>
                            </m:r>
                          </m:den>
                        </m:f>
                      </m:oMath>
                    </m:oMathPara>
                  </a14:m>
                  <a:endParaRPr lang="en-US" altLang="zh-CN" dirty="0"/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2400" dirty="0"/>
                    <a:t>最终得到：</a:t>
                  </a:r>
                  <a:endParaRPr lang="zh-CN" altLang="zh-CN" sz="2400" dirty="0"/>
                </a:p>
                <a:p>
                  <a:pPr>
                    <a:lnSpc>
                      <a:spcPct val="150000"/>
                    </a:lnSpc>
                  </a:pPr>
                  <a:endParaRPr lang="zh-CN" altLang="zh-CN" sz="18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zh-CN" altLang="zh-CN" sz="1800" dirty="0"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Times New Roman (正文 CS 字体)"/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58FD78EE-4EE1-7395-7A5F-0C269571A2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504" y="685800"/>
                  <a:ext cx="12011296" cy="4366965"/>
                </a:xfrm>
                <a:prstGeom prst="rect">
                  <a:avLst/>
                </a:prstGeom>
                <a:blipFill>
                  <a:blip r:embed="rId2"/>
                  <a:stretch>
                    <a:fillRect l="-8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3EA1147-B4E2-2E50-17FE-8E03CECB0813}"/>
                    </a:ext>
                  </a:extLst>
                </p:cNvPr>
                <p:cNvSpPr txBox="1"/>
                <p:nvPr/>
              </p:nvSpPr>
              <p:spPr>
                <a:xfrm>
                  <a:off x="3784600" y="4343400"/>
                  <a:ext cx="4545347" cy="22065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  <a:cs typeface="Times New Roman (正文 CS 字体)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2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h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 (正文 CS 字体)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 (正文 CS 字体)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∓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 (正文 CS 字体)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4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2000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 (正文 CS 字体)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  <a:cs typeface="Times New Roman (正文 CS 字体)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2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𝑢h</m:t>
                                    </m:r>
                                  </m:den>
                                </m:f>
                              </m:e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  <a:cs typeface="Times New Roman (正文 CS 字体)"/>
                                  </a:rPr>
                                  <m:t>=±</m:t>
                                </m:r>
                                <m:f>
                                  <m:f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 (正文 CS 字体)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4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2000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 (正文 CS 字体)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  <a:cs typeface="Times New Roman (正文 CS 字体)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𝑢h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Times New Roman (正文 CS 字体)"/>
                                  </a:rPr>
                                  <m:t>𝜃</m:t>
                                </m:r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  <a:cs typeface="Times New Roman (正文 CS 字体)"/>
                                  </a:rPr>
                                  <m:t>=±</m:t>
                                </m:r>
                                <m:f>
                                  <m:f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  <a:cs typeface="Times New Roman (正文 CS 字体)"/>
                                  </a:rPr>
                                  <m:t>arcsin</m:t>
                                </m:r>
                                <m:f>
                                  <m:f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cs typeface="Times New Roman (正文 CS 字体)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 (正文 CS 字体)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 (正文 CS 字体)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4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2000">
                                            <a:latin typeface="Cambria Math" panose="02040503050406030204" pitchFamily="18" charset="0"/>
                                            <a:cs typeface="Times New Roman (正文 CS 字体)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 (正文 CS 字体)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  <a:cs typeface="Times New Roman (正文 CS 字体)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  <a:cs typeface="Times New Roman (正文 CS 字体)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cs typeface="Times New Roman (正文 CS 字体)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3EA1147-B4E2-2E50-17FE-8E03CECB08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4600" y="4343400"/>
                  <a:ext cx="4545347" cy="220650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0CB1499-9211-E71A-769F-8D2CDCE8CE95}"/>
                  </a:ext>
                </a:extLst>
              </p:cNvPr>
              <p:cNvSpPr txBox="1"/>
              <p:nvPr/>
            </p:nvSpPr>
            <p:spPr>
              <a:xfrm>
                <a:off x="6062182" y="2448673"/>
                <a:ext cx="13038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带入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𝐹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 dirty="0"/>
                  <a:t>符号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0CB1499-9211-E71A-769F-8D2CDCE8C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182" y="2448673"/>
                <a:ext cx="1303818" cy="369332"/>
              </a:xfrm>
              <a:prstGeom prst="rect">
                <a:avLst/>
              </a:prstGeom>
              <a:blipFill>
                <a:blip r:embed="rId4"/>
                <a:stretch>
                  <a:fillRect l="-3738" t="-15000" r="-4206" b="-2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0A795CC9-07B5-58B5-F153-03162B0FBF2E}"/>
              </a:ext>
            </a:extLst>
          </p:cNvPr>
          <p:cNvSpPr/>
          <p:nvPr/>
        </p:nvSpPr>
        <p:spPr>
          <a:xfrm>
            <a:off x="7213600" y="3135982"/>
            <a:ext cx="228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1AEFD73-2214-0A35-0056-7658AEAC3CAF}"/>
              </a:ext>
            </a:extLst>
          </p:cNvPr>
          <p:cNvCxnSpPr>
            <a:cxnSpLocks/>
          </p:cNvCxnSpPr>
          <p:nvPr/>
        </p:nvCxnSpPr>
        <p:spPr>
          <a:xfrm flipH="1">
            <a:off x="5537200" y="2615837"/>
            <a:ext cx="524982" cy="726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319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6642036-C267-81B3-87F3-DEBBDA901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0" y="704850"/>
            <a:ext cx="7191375" cy="6381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8AB487-3BCF-28FC-B456-6E29F2D39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75" y="704850"/>
            <a:ext cx="7858125" cy="6457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FB5C2BA-82B1-05A1-BF07-651AE1F75A91}"/>
                  </a:ext>
                </a:extLst>
              </p:cNvPr>
              <p:cNvSpPr txBox="1"/>
              <p:nvPr/>
            </p:nvSpPr>
            <p:spPr>
              <a:xfrm>
                <a:off x="1651000" y="7467600"/>
                <a:ext cx="12192000" cy="876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0" dirty="0">
                    <a:solidFill>
                      <a:srgbClr val="0F1115"/>
                    </a:solidFill>
                    <a:effectLst/>
                  </a:rPr>
                  <a:t>轴位角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0F1115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范围为 </a:t>
                </a:r>
                <a:r>
                  <a:rPr lang="en-US" altLang="zh-CN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0~180</a:t>
                </a:r>
                <a:r>
                  <a:rPr lang="en-US" altLang="zh-CN" sz="2400" dirty="0">
                    <a:solidFill>
                      <a:srgbClr val="0F1115"/>
                    </a:solidFill>
                    <a:latin typeface="quote-cjk-patch"/>
                  </a:rPr>
                  <a:t>°</a:t>
                </a:r>
                <a:r>
                  <a:rPr lang="zh-CN" altLang="en-US" sz="2400" dirty="0">
                    <a:solidFill>
                      <a:srgbClr val="0F1115"/>
                    </a:solidFill>
                    <a:latin typeface="quote-cjk-patch"/>
                  </a:rPr>
                  <a:t>，而</a:t>
                </a:r>
                <a14:m>
                  <m:oMath xmlns:m="http://schemas.openxmlformats.org/officeDocument/2006/math">
                    <m:r>
                      <a:rPr lang="zh-CN" altLang="en-US" sz="2400" b="0" i="1" dirty="0" smtClean="0">
                        <a:solidFill>
                          <a:srgbClr val="0F1115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dirty="0" smtClean="0">
                        <a:solidFill>
                          <a:srgbClr val="0F1115"/>
                        </a:solidFill>
                        <a:effectLst/>
                        <a:latin typeface="Cambria Math" panose="02040503050406030204" pitchFamily="18" charset="0"/>
                      </a:rPr>
                      <m:t>⁡</m:t>
                    </m:r>
                    <m:r>
                      <a:rPr lang="zh-CN" altLang="en-US" sz="2400" i="1" dirty="0">
                        <a:solidFill>
                          <a:srgbClr val="0F1115"/>
                        </a:solidFill>
                        <a:latin typeface="Cambria Math" panose="02040503050406030204" pitchFamily="18" charset="0"/>
                      </a:rPr>
                      <m:t>𝑎𝑟𝑐𝑠𝑖𝑛</m:t>
                    </m:r>
                    <m:r>
                      <a:rPr lang="zh-CN" altLang="en-US" sz="2400" b="0" i="1" dirty="0">
                        <a:solidFill>
                          <a:srgbClr val="0F1115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的值域为</a:t>
                </a:r>
                <a:r>
                  <a:rPr lang="en-US" altLang="zh-CN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[-90,90]</a:t>
                </a:r>
                <a:r>
                  <a:rPr lang="zh-CN" alt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，给出 </a:t>
                </a:r>
                <a:r>
                  <a:rPr lang="en-US" altLang="zh-CN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0~90°</a:t>
                </a:r>
                <a:r>
                  <a:rPr lang="zh-CN" alt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，另一解 </a:t>
                </a:r>
                <a:r>
                  <a:rPr lang="en-US" altLang="zh-CN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90°~180°</a:t>
                </a:r>
                <a:r>
                  <a:rPr lang="zh-CN" alt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，</a:t>
                </a:r>
                <a:r>
                  <a:rPr lang="zh-CN" altLang="en-US" sz="2400" dirty="0">
                    <a:solidFill>
                      <a:srgbClr val="0F1115"/>
                    </a:solidFill>
                    <a:latin typeface="quote-cjk-patch"/>
                  </a:rPr>
                  <a:t>需要</a:t>
                </a:r>
                <a:r>
                  <a:rPr lang="zh-CN" alt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由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1" dirty="0" smtClean="0">
                        <a:solidFill>
                          <a:srgbClr val="0F1115"/>
                        </a:solidFill>
                        <a:effectLst/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b="0" i="1" dirty="0" smtClean="0">
                        <a:solidFill>
                          <a:srgbClr val="0F1115"/>
                        </a:solidFill>
                        <a:effectLst/>
                        <a:latin typeface="Cambria Math" panose="02040503050406030204" pitchFamily="18" charset="0"/>
                      </a:rPr>
                      <m:t>⁡2</m:t>
                    </m:r>
                    <m:r>
                      <a:rPr lang="en-US" altLang="zh-CN" sz="2400" b="0" i="1" dirty="0" smtClean="0">
                        <a:solidFill>
                          <a:srgbClr val="0F1115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判断</a:t>
                </a:r>
                <a:r>
                  <a:rPr lang="zh-CN" altLang="en-US" sz="2400" dirty="0">
                    <a:solidFill>
                      <a:srgbClr val="0F1115"/>
                    </a:solidFill>
                    <a:latin typeface="quote-cjk-patch"/>
                  </a:rPr>
                  <a:t>根据符号确定象限。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FB5C2BA-82B1-05A1-BF07-651AE1F75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7467600"/>
                <a:ext cx="12192000" cy="876074"/>
              </a:xfrm>
              <a:prstGeom prst="rect">
                <a:avLst/>
              </a:prstGeom>
              <a:blipFill>
                <a:blip r:embed="rId4"/>
                <a:stretch>
                  <a:fillRect l="-800" t="-4167" r="-3300" b="-11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641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1363</Words>
  <Application>Microsoft Office PowerPoint</Application>
  <PresentationFormat>自定义</PresentationFormat>
  <Paragraphs>168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quote-cjk-patch</vt:lpstr>
      <vt:lpstr>等线</vt:lpstr>
      <vt:lpstr>宋体</vt:lpstr>
      <vt:lpstr>Arial</vt:lpstr>
      <vt:lpstr>Calibri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梁华秋</dc:creator>
  <cp:lastModifiedBy>华秋 梁</cp:lastModifiedBy>
  <cp:revision>19</cp:revision>
  <dcterms:created xsi:type="dcterms:W3CDTF">2006-08-16T00:00:00Z</dcterms:created>
  <dcterms:modified xsi:type="dcterms:W3CDTF">2026-07-15T02:59:25Z</dcterms:modified>
</cp:coreProperties>
</file>